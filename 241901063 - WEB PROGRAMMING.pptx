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theme/themeOverride19.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1"/>
  </p:notesMasterIdLst>
  <p:sldIdLst>
    <p:sldId id="256" r:id="rId2"/>
    <p:sldId id="257" r:id="rId3"/>
    <p:sldId id="374" r:id="rId4"/>
    <p:sldId id="382" r:id="rId5"/>
    <p:sldId id="372" r:id="rId6"/>
    <p:sldId id="384" r:id="rId7"/>
    <p:sldId id="385" r:id="rId8"/>
    <p:sldId id="383" r:id="rId9"/>
    <p:sldId id="386" r:id="rId10"/>
    <p:sldId id="388" r:id="rId11"/>
    <p:sldId id="377" r:id="rId12"/>
    <p:sldId id="373" r:id="rId13"/>
    <p:sldId id="378" r:id="rId14"/>
    <p:sldId id="379" r:id="rId15"/>
    <p:sldId id="380" r:id="rId16"/>
    <p:sldId id="381" r:id="rId17"/>
    <p:sldId id="375" r:id="rId18"/>
    <p:sldId id="376" r:id="rId19"/>
    <p:sldId id="38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3447" autoAdjust="0"/>
  </p:normalViewPr>
  <p:slideViewPr>
    <p:cSldViewPr snapToGrid="0">
      <p:cViewPr varScale="1">
        <p:scale>
          <a:sx n="95" d="100"/>
          <a:sy n="95" d="100"/>
        </p:scale>
        <p:origin x="20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9E05D0-A421-4EF3-8512-AD1148C82550}" type="datetimeFigureOut">
              <a:rPr lang="en-IN" smtClean="0"/>
              <a:t>21-10-2026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1C5D9F-5FDD-4E04-AD07-37773298FBF3}" type="slidenum">
              <a:rPr lang="en-IN" smtClean="0"/>
              <a:t>‹#›</a:t>
            </a:fld>
            <a:endParaRPr lang="en-IN"/>
          </a:p>
        </p:txBody>
      </p:sp>
    </p:spTree>
    <p:extLst>
      <p:ext uri="{BB962C8B-B14F-4D97-AF65-F5344CB8AC3E}">
        <p14:creationId xmlns:p14="http://schemas.microsoft.com/office/powerpoint/2010/main" val="8096676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7">
            <a:extLst>
              <a:ext uri="{FF2B5EF4-FFF2-40B4-BE49-F238E27FC236}">
                <a16:creationId xmlns:a16="http://schemas.microsoft.com/office/drawing/2014/main" id="{8D13192D-1816-F03A-9AF1-BBA902A8A17D}"/>
              </a:ext>
            </a:extLst>
          </p:cNvPr>
          <p:cNvSpPr>
            <a:spLocks noChangeArrowheads="1"/>
          </p:cNvSpPr>
          <p:nvPr/>
        </p:nvSpPr>
        <p:spPr bwMode="auto">
          <a:xfrm>
            <a:off x="914400" y="2393950"/>
            <a:ext cx="10363200" cy="109538"/>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5122"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5123"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3" name="Date Placeholder 2">
            <a:extLst>
              <a:ext uri="{FF2B5EF4-FFF2-40B4-BE49-F238E27FC236}">
                <a16:creationId xmlns:a16="http://schemas.microsoft.com/office/drawing/2014/main" id="{814B6A37-AD04-C654-AC92-D9CC3ADF0A51}"/>
              </a:ext>
            </a:extLst>
          </p:cNvPr>
          <p:cNvSpPr>
            <a:spLocks noGrp="1" noChangeArrowheads="1"/>
          </p:cNvSpPr>
          <p:nvPr>
            <p:ph type="dt" sz="half" idx="10"/>
          </p:nvPr>
        </p:nvSpPr>
        <p:spPr>
          <a:xfrm>
            <a:off x="914400" y="6248400"/>
            <a:ext cx="2540000" cy="457200"/>
          </a:xfrm>
        </p:spPr>
        <p:txBody>
          <a:bodyPr/>
          <a:lstStyle>
            <a:lvl1pPr>
              <a:defRPr/>
            </a:lvl1pPr>
          </a:lstStyle>
          <a:p>
            <a:pPr>
              <a:defRPr/>
            </a:pPr>
            <a:r>
              <a:rPr lang="en-US" dirty="0"/>
              <a:t>CS19811-Phase-II-Final Viva</a:t>
            </a:r>
          </a:p>
        </p:txBody>
      </p:sp>
      <p:sp>
        <p:nvSpPr>
          <p:cNvPr id="4" name="Footer Placeholder 3">
            <a:extLst>
              <a:ext uri="{FF2B5EF4-FFF2-40B4-BE49-F238E27FC236}">
                <a16:creationId xmlns:a16="http://schemas.microsoft.com/office/drawing/2014/main" id="{EE58272B-7D6B-F3CE-953F-1079FFA8D80E}"/>
              </a:ext>
            </a:extLst>
          </p:cNvPr>
          <p:cNvSpPr>
            <a:spLocks noGrp="1" noChangeArrowheads="1"/>
          </p:cNvSpPr>
          <p:nvPr>
            <p:ph type="ftr" sz="quarter" idx="11"/>
          </p:nvPr>
        </p:nvSpPr>
        <p:spPr>
          <a:xfrm>
            <a:off x="4165600" y="6248400"/>
            <a:ext cx="3860800" cy="457200"/>
          </a:xfrm>
        </p:spPr>
        <p:txBody>
          <a:bodyPr/>
          <a:lstStyle>
            <a:lvl1pPr>
              <a:defRPr/>
            </a:lvl1pPr>
          </a:lstStyle>
          <a:p>
            <a:pPr>
              <a:defRPr/>
            </a:pPr>
            <a:r>
              <a:rPr lang="en-US"/>
              <a:t>Department of Computer Science and Engineering</a:t>
            </a:r>
          </a:p>
        </p:txBody>
      </p:sp>
      <p:sp>
        <p:nvSpPr>
          <p:cNvPr id="5" name="Slide Number Placeholder 4">
            <a:extLst>
              <a:ext uri="{FF2B5EF4-FFF2-40B4-BE49-F238E27FC236}">
                <a16:creationId xmlns:a16="http://schemas.microsoft.com/office/drawing/2014/main" id="{E55F3314-4EF0-936B-77EE-175E9EF6B55B}"/>
              </a:ext>
            </a:extLst>
          </p:cNvPr>
          <p:cNvSpPr>
            <a:spLocks noGrp="1" noChangeArrowheads="1"/>
          </p:cNvSpPr>
          <p:nvPr>
            <p:ph type="sldNum" sz="quarter" idx="12"/>
          </p:nvPr>
        </p:nvSpPr>
        <p:spPr>
          <a:xfrm>
            <a:off x="8737600" y="6248400"/>
            <a:ext cx="2540000" cy="457200"/>
          </a:xfrm>
        </p:spPr>
        <p:txBody>
          <a:bodyPr/>
          <a:lstStyle>
            <a:lvl1pPr>
              <a:defRPr smtClean="0"/>
            </a:lvl1pPr>
          </a:lstStyle>
          <a:p>
            <a:pPr>
              <a:defRPr/>
            </a:pPr>
            <a:fld id="{D8F95DA7-9E0E-467D-A139-0471DC1777CB}" type="slidenum">
              <a:rPr lang="en-US" altLang="en-US"/>
              <a:pPr>
                <a:defRPr/>
              </a:pPr>
              <a:t>‹#›</a:t>
            </a:fld>
            <a:endParaRPr lang="en-US" altLang="en-US"/>
          </a:p>
        </p:txBody>
      </p:sp>
    </p:spTree>
    <p:extLst>
      <p:ext uri="{BB962C8B-B14F-4D97-AF65-F5344CB8AC3E}">
        <p14:creationId xmlns:p14="http://schemas.microsoft.com/office/powerpoint/2010/main" val="17509654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4A88B164-965D-9E09-9E7D-16374A9EADD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EE044AE8-B23C-D8C6-4D87-EADCB1C0F02B}"/>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BE04F0FC-AAC5-064C-CDAD-FF80D73B3853}"/>
              </a:ext>
            </a:extLst>
          </p:cNvPr>
          <p:cNvSpPr>
            <a:spLocks noGrp="1" noChangeArrowheads="1"/>
          </p:cNvSpPr>
          <p:nvPr>
            <p:ph type="sldNum" sz="quarter" idx="12"/>
          </p:nvPr>
        </p:nvSpPr>
        <p:spPr>
          <a:ln/>
        </p:spPr>
        <p:txBody>
          <a:bodyPr/>
          <a:lstStyle>
            <a:lvl1pPr>
              <a:defRPr/>
            </a:lvl1pPr>
          </a:lstStyle>
          <a:p>
            <a:pPr>
              <a:defRPr/>
            </a:pPr>
            <a:fld id="{BDC2143B-610F-499C-A392-DFFBE135A7B2}" type="slidenum">
              <a:rPr lang="en-US" altLang="en-US"/>
              <a:pPr>
                <a:defRPr/>
              </a:pPr>
              <a:t>‹#›</a:t>
            </a:fld>
            <a:endParaRPr lang="en-US" altLang="en-US"/>
          </a:p>
        </p:txBody>
      </p:sp>
    </p:spTree>
    <p:extLst>
      <p:ext uri="{BB962C8B-B14F-4D97-AF65-F5344CB8AC3E}">
        <p14:creationId xmlns:p14="http://schemas.microsoft.com/office/powerpoint/2010/main" val="242267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9E3D50AC-D896-487B-A964-4F2362A2FCEC}"/>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1860975C-7E6F-6BD7-97FB-B68EFA315FE1}"/>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925DB3BD-FB8F-C610-9A37-B3ADF214A3E4}"/>
              </a:ext>
            </a:extLst>
          </p:cNvPr>
          <p:cNvSpPr>
            <a:spLocks noGrp="1" noChangeArrowheads="1"/>
          </p:cNvSpPr>
          <p:nvPr>
            <p:ph type="sldNum" sz="quarter" idx="12"/>
          </p:nvPr>
        </p:nvSpPr>
        <p:spPr>
          <a:ln/>
        </p:spPr>
        <p:txBody>
          <a:bodyPr/>
          <a:lstStyle>
            <a:lvl1pPr>
              <a:defRPr/>
            </a:lvl1pPr>
          </a:lstStyle>
          <a:p>
            <a:pPr>
              <a:defRPr/>
            </a:pPr>
            <a:fld id="{575C213C-AC18-4D5A-BA73-4550FF50B842}" type="slidenum">
              <a:rPr lang="en-US" altLang="en-US"/>
              <a:pPr>
                <a:defRPr/>
              </a:pPr>
              <a:t>‹#›</a:t>
            </a:fld>
            <a:endParaRPr lang="en-US" altLang="en-US"/>
          </a:p>
        </p:txBody>
      </p:sp>
    </p:spTree>
    <p:extLst>
      <p:ext uri="{BB962C8B-B14F-4D97-AF65-F5344CB8AC3E}">
        <p14:creationId xmlns:p14="http://schemas.microsoft.com/office/powerpoint/2010/main" val="15435454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1CC1F139-34C5-A295-F629-88EF76019A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AB20EB37-7A2A-E49D-01DB-6418D7037D0A}"/>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C4FAAEF5-CC11-F779-153E-E74E333E5AC1}"/>
              </a:ext>
            </a:extLst>
          </p:cNvPr>
          <p:cNvSpPr>
            <a:spLocks noGrp="1" noChangeArrowheads="1"/>
          </p:cNvSpPr>
          <p:nvPr>
            <p:ph type="sldNum" sz="quarter" idx="12"/>
          </p:nvPr>
        </p:nvSpPr>
        <p:spPr>
          <a:ln/>
        </p:spPr>
        <p:txBody>
          <a:bodyPr/>
          <a:lstStyle>
            <a:lvl1pPr>
              <a:defRPr/>
            </a:lvl1pPr>
          </a:lstStyle>
          <a:p>
            <a:pPr>
              <a:defRPr/>
            </a:pPr>
            <a:fld id="{7A8ED4EA-E359-45F1-B86A-A40772B25C23}" type="slidenum">
              <a:rPr lang="en-US" altLang="en-US"/>
              <a:pPr>
                <a:defRPr/>
              </a:pPr>
              <a:t>‹#›</a:t>
            </a:fld>
            <a:endParaRPr lang="en-US" altLang="en-US"/>
          </a:p>
        </p:txBody>
      </p:sp>
    </p:spTree>
    <p:extLst>
      <p:ext uri="{BB962C8B-B14F-4D97-AF65-F5344CB8AC3E}">
        <p14:creationId xmlns:p14="http://schemas.microsoft.com/office/powerpoint/2010/main" val="1812587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B4E764D-F83F-9CC9-8E38-FEA9647AB755}"/>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8" name="Rectangle 7">
            <a:extLst>
              <a:ext uri="{FF2B5EF4-FFF2-40B4-BE49-F238E27FC236}">
                <a16:creationId xmlns:a16="http://schemas.microsoft.com/office/drawing/2014/main" id="{BABF83D4-B422-239C-8C38-4509A66ADBE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9" name="Rectangle 8">
            <a:extLst>
              <a:ext uri="{FF2B5EF4-FFF2-40B4-BE49-F238E27FC236}">
                <a16:creationId xmlns:a16="http://schemas.microsoft.com/office/drawing/2014/main" id="{781238FA-AFA9-8287-25C9-98D6042CFD33}"/>
              </a:ext>
            </a:extLst>
          </p:cNvPr>
          <p:cNvSpPr>
            <a:spLocks noGrp="1" noChangeArrowheads="1"/>
          </p:cNvSpPr>
          <p:nvPr>
            <p:ph type="sldNum" sz="quarter" idx="12"/>
          </p:nvPr>
        </p:nvSpPr>
        <p:spPr>
          <a:ln/>
        </p:spPr>
        <p:txBody>
          <a:bodyPr/>
          <a:lstStyle>
            <a:lvl1pPr>
              <a:defRPr/>
            </a:lvl1pPr>
          </a:lstStyle>
          <a:p>
            <a:pPr>
              <a:defRPr/>
            </a:pPr>
            <a:fld id="{E637AD66-1F60-49BE-A2E9-D91D10CB91F3}" type="slidenum">
              <a:rPr lang="en-US" altLang="en-US"/>
              <a:pPr>
                <a:defRPr/>
              </a:pPr>
              <a:t>‹#›</a:t>
            </a:fld>
            <a:endParaRPr lang="en-US" altLang="en-US"/>
          </a:p>
        </p:txBody>
      </p:sp>
    </p:spTree>
    <p:extLst>
      <p:ext uri="{BB962C8B-B14F-4D97-AF65-F5344CB8AC3E}">
        <p14:creationId xmlns:p14="http://schemas.microsoft.com/office/powerpoint/2010/main" val="3338931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B80D49F1-7BF0-A0A8-0C0A-9B4F1788B3B4}"/>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4" name="Rectangle 7">
            <a:extLst>
              <a:ext uri="{FF2B5EF4-FFF2-40B4-BE49-F238E27FC236}">
                <a16:creationId xmlns:a16="http://schemas.microsoft.com/office/drawing/2014/main" id="{BDDDAEBE-B0DA-0212-414B-C9FFC612D8C0}"/>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5" name="Rectangle 8">
            <a:extLst>
              <a:ext uri="{FF2B5EF4-FFF2-40B4-BE49-F238E27FC236}">
                <a16:creationId xmlns:a16="http://schemas.microsoft.com/office/drawing/2014/main" id="{7430D5C8-DD0F-C0FD-D016-9055C67C40FA}"/>
              </a:ext>
            </a:extLst>
          </p:cNvPr>
          <p:cNvSpPr>
            <a:spLocks noGrp="1" noChangeArrowheads="1"/>
          </p:cNvSpPr>
          <p:nvPr>
            <p:ph type="sldNum" sz="quarter" idx="12"/>
          </p:nvPr>
        </p:nvSpPr>
        <p:spPr>
          <a:ln/>
        </p:spPr>
        <p:txBody>
          <a:bodyPr/>
          <a:lstStyle>
            <a:lvl1pPr>
              <a:defRPr/>
            </a:lvl1pPr>
          </a:lstStyle>
          <a:p>
            <a:pPr>
              <a:defRPr/>
            </a:pPr>
            <a:fld id="{F583B680-F650-469F-A231-392F163461F6}" type="slidenum">
              <a:rPr lang="en-US" altLang="en-US"/>
              <a:pPr>
                <a:defRPr/>
              </a:pPr>
              <a:t>‹#›</a:t>
            </a:fld>
            <a:endParaRPr lang="en-US" altLang="en-US"/>
          </a:p>
        </p:txBody>
      </p:sp>
    </p:spTree>
    <p:extLst>
      <p:ext uri="{BB962C8B-B14F-4D97-AF65-F5344CB8AC3E}">
        <p14:creationId xmlns:p14="http://schemas.microsoft.com/office/powerpoint/2010/main" val="41268195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0400DB2-066A-4CAE-071C-1EAF9DDB7276}"/>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3" name="Rectangle 7">
            <a:extLst>
              <a:ext uri="{FF2B5EF4-FFF2-40B4-BE49-F238E27FC236}">
                <a16:creationId xmlns:a16="http://schemas.microsoft.com/office/drawing/2014/main" id="{EAB14BBF-3825-C6B5-25F7-8686AAD7C353}"/>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4" name="Rectangle 8">
            <a:extLst>
              <a:ext uri="{FF2B5EF4-FFF2-40B4-BE49-F238E27FC236}">
                <a16:creationId xmlns:a16="http://schemas.microsoft.com/office/drawing/2014/main" id="{784D417B-4541-5C9D-274F-9952E6F120B4}"/>
              </a:ext>
            </a:extLst>
          </p:cNvPr>
          <p:cNvSpPr>
            <a:spLocks noGrp="1" noChangeArrowheads="1"/>
          </p:cNvSpPr>
          <p:nvPr>
            <p:ph type="sldNum" sz="quarter" idx="12"/>
          </p:nvPr>
        </p:nvSpPr>
        <p:spPr>
          <a:ln/>
        </p:spPr>
        <p:txBody>
          <a:bodyPr/>
          <a:lstStyle>
            <a:lvl1pPr>
              <a:defRPr/>
            </a:lvl1pPr>
          </a:lstStyle>
          <a:p>
            <a:pPr>
              <a:defRPr/>
            </a:pPr>
            <a:fld id="{DD537315-F462-4C74-88B4-A900525A3FAA}" type="slidenum">
              <a:rPr lang="en-US" altLang="en-US"/>
              <a:pPr>
                <a:defRPr/>
              </a:pPr>
              <a:t>‹#›</a:t>
            </a:fld>
            <a:endParaRPr lang="en-US" altLang="en-US"/>
          </a:p>
        </p:txBody>
      </p:sp>
    </p:spTree>
    <p:extLst>
      <p:ext uri="{BB962C8B-B14F-4D97-AF65-F5344CB8AC3E}">
        <p14:creationId xmlns:p14="http://schemas.microsoft.com/office/powerpoint/2010/main" val="28377793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0B1A011-C2F2-C9FC-9DD8-A4E6A00AA40D}"/>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7B4C95F2-7321-CEE1-4FD5-BE988C3BAE38}"/>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24AB3D0A-7C9E-40E8-0F27-0C737BD346FF}"/>
              </a:ext>
            </a:extLst>
          </p:cNvPr>
          <p:cNvSpPr>
            <a:spLocks noGrp="1" noChangeArrowheads="1"/>
          </p:cNvSpPr>
          <p:nvPr>
            <p:ph type="sldNum" sz="quarter" idx="12"/>
          </p:nvPr>
        </p:nvSpPr>
        <p:spPr>
          <a:ln/>
        </p:spPr>
        <p:txBody>
          <a:bodyPr/>
          <a:lstStyle>
            <a:lvl1pPr>
              <a:defRPr/>
            </a:lvl1pPr>
          </a:lstStyle>
          <a:p>
            <a:pPr>
              <a:defRPr/>
            </a:pPr>
            <a:fld id="{379B2829-DA13-4801-8FBD-6D5729CB9593}" type="slidenum">
              <a:rPr lang="en-US" altLang="en-US"/>
              <a:pPr>
                <a:defRPr/>
              </a:pPr>
              <a:t>‹#›</a:t>
            </a:fld>
            <a:endParaRPr lang="en-US" altLang="en-US"/>
          </a:p>
        </p:txBody>
      </p:sp>
    </p:spTree>
    <p:extLst>
      <p:ext uri="{BB962C8B-B14F-4D97-AF65-F5344CB8AC3E}">
        <p14:creationId xmlns:p14="http://schemas.microsoft.com/office/powerpoint/2010/main" val="3501495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531D201-6E7B-DD71-C865-2CC768252091}"/>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6" name="Rectangle 7">
            <a:extLst>
              <a:ext uri="{FF2B5EF4-FFF2-40B4-BE49-F238E27FC236}">
                <a16:creationId xmlns:a16="http://schemas.microsoft.com/office/drawing/2014/main" id="{3A474AB6-A9CC-8EC3-60F9-BBEDD90B035D}"/>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7" name="Rectangle 8">
            <a:extLst>
              <a:ext uri="{FF2B5EF4-FFF2-40B4-BE49-F238E27FC236}">
                <a16:creationId xmlns:a16="http://schemas.microsoft.com/office/drawing/2014/main" id="{414DF99B-1424-E931-A0EF-A2CCFECC39DF}"/>
              </a:ext>
            </a:extLst>
          </p:cNvPr>
          <p:cNvSpPr>
            <a:spLocks noGrp="1" noChangeArrowheads="1"/>
          </p:cNvSpPr>
          <p:nvPr>
            <p:ph type="sldNum" sz="quarter" idx="12"/>
          </p:nvPr>
        </p:nvSpPr>
        <p:spPr>
          <a:ln/>
        </p:spPr>
        <p:txBody>
          <a:bodyPr/>
          <a:lstStyle>
            <a:lvl1pPr>
              <a:defRPr/>
            </a:lvl1pPr>
          </a:lstStyle>
          <a:p>
            <a:pPr>
              <a:defRPr/>
            </a:pPr>
            <a:fld id="{B5B0EEF8-84AE-4BCB-9844-5B22523396C9}" type="slidenum">
              <a:rPr lang="en-US" altLang="en-US"/>
              <a:pPr>
                <a:defRPr/>
              </a:pPr>
              <a:t>‹#›</a:t>
            </a:fld>
            <a:endParaRPr lang="en-US" altLang="en-US"/>
          </a:p>
        </p:txBody>
      </p:sp>
    </p:spTree>
    <p:extLst>
      <p:ext uri="{BB962C8B-B14F-4D97-AF65-F5344CB8AC3E}">
        <p14:creationId xmlns:p14="http://schemas.microsoft.com/office/powerpoint/2010/main" val="975982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DE0854C1-7207-EF75-A61A-B4AF54A5D72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023D97B6-49D4-67F3-668F-9724FD35233F}"/>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EE4FA587-585B-1C1F-066D-B211962B0DB9}"/>
              </a:ext>
            </a:extLst>
          </p:cNvPr>
          <p:cNvSpPr>
            <a:spLocks noGrp="1" noChangeArrowheads="1"/>
          </p:cNvSpPr>
          <p:nvPr>
            <p:ph type="sldNum" sz="quarter" idx="12"/>
          </p:nvPr>
        </p:nvSpPr>
        <p:spPr>
          <a:ln/>
        </p:spPr>
        <p:txBody>
          <a:bodyPr/>
          <a:lstStyle>
            <a:lvl1pPr>
              <a:defRPr/>
            </a:lvl1pPr>
          </a:lstStyle>
          <a:p>
            <a:pPr>
              <a:defRPr/>
            </a:pPr>
            <a:fld id="{5367E6EB-B6CA-430B-8761-75C737CF7AF1}" type="slidenum">
              <a:rPr lang="en-US" altLang="en-US"/>
              <a:pPr>
                <a:defRPr/>
              </a:pPr>
              <a:t>‹#›</a:t>
            </a:fld>
            <a:endParaRPr lang="en-US" altLang="en-US"/>
          </a:p>
        </p:txBody>
      </p:sp>
    </p:spTree>
    <p:extLst>
      <p:ext uri="{BB962C8B-B14F-4D97-AF65-F5344CB8AC3E}">
        <p14:creationId xmlns:p14="http://schemas.microsoft.com/office/powerpoint/2010/main" val="1939476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E1D0F6A3-93FF-6A17-402C-31256BC45713}"/>
              </a:ext>
            </a:extLst>
          </p:cNvPr>
          <p:cNvSpPr>
            <a:spLocks noGrp="1" noChangeArrowheads="1"/>
          </p:cNvSpPr>
          <p:nvPr>
            <p:ph type="dt" sz="half" idx="10"/>
          </p:nvPr>
        </p:nvSpPr>
        <p:spPr>
          <a:ln/>
        </p:spPr>
        <p:txBody>
          <a:bodyPr/>
          <a:lstStyle>
            <a:lvl1pPr>
              <a:defRPr/>
            </a:lvl1pPr>
          </a:lstStyle>
          <a:p>
            <a:pPr>
              <a:defRPr/>
            </a:pPr>
            <a:r>
              <a:rPr lang="en-US" dirty="0"/>
              <a:t>CS19811-Phase-II-Final Viva</a:t>
            </a:r>
          </a:p>
        </p:txBody>
      </p:sp>
      <p:sp>
        <p:nvSpPr>
          <p:cNvPr id="5" name="Rectangle 7">
            <a:extLst>
              <a:ext uri="{FF2B5EF4-FFF2-40B4-BE49-F238E27FC236}">
                <a16:creationId xmlns:a16="http://schemas.microsoft.com/office/drawing/2014/main" id="{FB63A9F3-AD04-ED6E-E628-12170F70CE75}"/>
              </a:ext>
            </a:extLst>
          </p:cNvPr>
          <p:cNvSpPr>
            <a:spLocks noGrp="1" noChangeArrowheads="1"/>
          </p:cNvSpPr>
          <p:nvPr>
            <p:ph type="ftr" sz="quarter" idx="11"/>
          </p:nvPr>
        </p:nvSpPr>
        <p:spPr>
          <a:ln/>
        </p:spPr>
        <p:txBody>
          <a:bodyPr/>
          <a:lstStyle>
            <a:lvl1pPr>
              <a:defRPr/>
            </a:lvl1pPr>
          </a:lstStyle>
          <a:p>
            <a:pPr>
              <a:defRPr/>
            </a:pPr>
            <a:r>
              <a:rPr lang="en-US"/>
              <a:t>Department of Computer Science and Engineering</a:t>
            </a:r>
          </a:p>
        </p:txBody>
      </p:sp>
      <p:sp>
        <p:nvSpPr>
          <p:cNvPr id="6" name="Rectangle 8">
            <a:extLst>
              <a:ext uri="{FF2B5EF4-FFF2-40B4-BE49-F238E27FC236}">
                <a16:creationId xmlns:a16="http://schemas.microsoft.com/office/drawing/2014/main" id="{01BD68DD-46F8-E148-C9DD-BDF1256D37AB}"/>
              </a:ext>
            </a:extLst>
          </p:cNvPr>
          <p:cNvSpPr>
            <a:spLocks noGrp="1" noChangeArrowheads="1"/>
          </p:cNvSpPr>
          <p:nvPr>
            <p:ph type="sldNum" sz="quarter" idx="12"/>
          </p:nvPr>
        </p:nvSpPr>
        <p:spPr>
          <a:ln/>
        </p:spPr>
        <p:txBody>
          <a:bodyPr/>
          <a:lstStyle>
            <a:lvl1pPr>
              <a:defRPr/>
            </a:lvl1pPr>
          </a:lstStyle>
          <a:p>
            <a:pPr>
              <a:defRPr/>
            </a:pPr>
            <a:fld id="{3031276A-AAE7-4DAF-B5DC-CD9EE96B703D}" type="slidenum">
              <a:rPr lang="en-US" altLang="en-US"/>
              <a:pPr>
                <a:defRPr/>
              </a:pPr>
              <a:t>‹#›</a:t>
            </a:fld>
            <a:endParaRPr lang="en-US" altLang="en-US"/>
          </a:p>
        </p:txBody>
      </p:sp>
    </p:spTree>
    <p:extLst>
      <p:ext uri="{BB962C8B-B14F-4D97-AF65-F5344CB8AC3E}">
        <p14:creationId xmlns:p14="http://schemas.microsoft.com/office/powerpoint/2010/main" val="27881953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tile tx="0" ty="0" sx="100000" sy="100000" flip="none" algn="tl"/>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AD52653-E1AE-07CB-DCC9-CD2593D84EFE}"/>
              </a:ext>
            </a:extLst>
          </p:cNvPr>
          <p:cNvSpPr>
            <a:spLocks noGrp="1" noChangeArrowheads="1"/>
          </p:cNvSpPr>
          <p:nvPr>
            <p:ph type="title"/>
          </p:nvPr>
        </p:nvSpPr>
        <p:spPr bwMode="auto">
          <a:xfrm>
            <a:off x="766233" y="304801"/>
            <a:ext cx="106680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4BB93799-0450-059C-B337-0FA5C4C3731F}"/>
              </a:ext>
            </a:extLst>
          </p:cNvPr>
          <p:cNvSpPr>
            <a:spLocks noGrp="1" noChangeArrowheads="1"/>
          </p:cNvSpPr>
          <p:nvPr>
            <p:ph type="body" idx="1"/>
          </p:nvPr>
        </p:nvSpPr>
        <p:spPr bwMode="auto">
          <a:xfrm>
            <a:off x="755651" y="17526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AutoShape 4">
            <a:extLst>
              <a:ext uri="{FF2B5EF4-FFF2-40B4-BE49-F238E27FC236}">
                <a16:creationId xmlns:a16="http://schemas.microsoft.com/office/drawing/2014/main" id="{6B43BBB4-1099-054A-DDAC-B357DD3DA511}"/>
              </a:ext>
            </a:extLst>
          </p:cNvPr>
          <p:cNvSpPr>
            <a:spLocks noChangeArrowheads="1"/>
          </p:cNvSpPr>
          <p:nvPr/>
        </p:nvSpPr>
        <p:spPr bwMode="auto">
          <a:xfrm>
            <a:off x="812800" y="1566864"/>
            <a:ext cx="10610851"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IN" sz="1800"/>
          </a:p>
        </p:txBody>
      </p:sp>
      <p:sp>
        <p:nvSpPr>
          <p:cNvPr id="1029" name="Line 5">
            <a:extLst>
              <a:ext uri="{FF2B5EF4-FFF2-40B4-BE49-F238E27FC236}">
                <a16:creationId xmlns:a16="http://schemas.microsoft.com/office/drawing/2014/main" id="{986B2119-A42B-45B1-6DCF-EF7CC29004DD}"/>
              </a:ext>
            </a:extLst>
          </p:cNvPr>
          <p:cNvSpPr>
            <a:spLocks noChangeShapeType="1"/>
          </p:cNvSpPr>
          <p:nvPr/>
        </p:nvSpPr>
        <p:spPr bwMode="auto">
          <a:xfrm flipV="1">
            <a:off x="812800" y="6172200"/>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IN" sz="1800"/>
          </a:p>
        </p:txBody>
      </p:sp>
      <p:sp>
        <p:nvSpPr>
          <p:cNvPr id="4102" name="Rectangle 6">
            <a:extLst>
              <a:ext uri="{FF2B5EF4-FFF2-40B4-BE49-F238E27FC236}">
                <a16:creationId xmlns:a16="http://schemas.microsoft.com/office/drawing/2014/main" id="{6C6B070B-4AFE-871D-87ED-86092999D2D8}"/>
              </a:ext>
            </a:extLst>
          </p:cNvPr>
          <p:cNvSpPr>
            <a:spLocks noGrp="1" noChangeArrowheads="1"/>
          </p:cNvSpPr>
          <p:nvPr>
            <p:ph type="dt" sz="half" idx="2"/>
          </p:nvPr>
        </p:nvSpPr>
        <p:spPr bwMode="auto">
          <a:xfrm>
            <a:off x="8128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cs typeface="+mn-cs"/>
              </a:defRPr>
            </a:lvl1pPr>
          </a:lstStyle>
          <a:p>
            <a:pPr>
              <a:defRPr/>
            </a:pPr>
            <a:r>
              <a:rPr lang="en-US" dirty="0"/>
              <a:t>CS19811-Phase-II-Final Viva</a:t>
            </a:r>
          </a:p>
        </p:txBody>
      </p:sp>
      <p:sp>
        <p:nvSpPr>
          <p:cNvPr id="4103" name="Rectangle 7">
            <a:extLst>
              <a:ext uri="{FF2B5EF4-FFF2-40B4-BE49-F238E27FC236}">
                <a16:creationId xmlns:a16="http://schemas.microsoft.com/office/drawing/2014/main" id="{FA33AF8B-6600-80BC-AB7A-98E95CF9D742}"/>
              </a:ext>
            </a:extLst>
          </p:cNvPr>
          <p:cNvSpPr>
            <a:spLocks noGrp="1" noChangeArrowheads="1"/>
          </p:cNvSpPr>
          <p:nvPr>
            <p:ph type="ftr" sz="quarter" idx="3"/>
          </p:nvPr>
        </p:nvSpPr>
        <p:spPr bwMode="auto">
          <a:xfrm>
            <a:off x="4165600" y="6245225"/>
            <a:ext cx="38608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a:cs typeface="+mn-cs"/>
              </a:defRPr>
            </a:lvl1pPr>
          </a:lstStyle>
          <a:p>
            <a:pPr>
              <a:defRPr/>
            </a:pPr>
            <a:r>
              <a:rPr lang="en-US"/>
              <a:t>Department of Computer Science and Engineering</a:t>
            </a:r>
          </a:p>
        </p:txBody>
      </p:sp>
      <p:sp>
        <p:nvSpPr>
          <p:cNvPr id="4104" name="Rectangle 8">
            <a:extLst>
              <a:ext uri="{FF2B5EF4-FFF2-40B4-BE49-F238E27FC236}">
                <a16:creationId xmlns:a16="http://schemas.microsoft.com/office/drawing/2014/main" id="{1BD9409A-4B38-651E-F54D-ABAB5C4CEBAD}"/>
              </a:ext>
            </a:extLst>
          </p:cNvPr>
          <p:cNvSpPr>
            <a:spLocks noGrp="1" noChangeArrowheads="1"/>
          </p:cNvSpPr>
          <p:nvPr>
            <p:ph type="sldNum" sz="quarter" idx="4"/>
          </p:nvPr>
        </p:nvSpPr>
        <p:spPr bwMode="auto">
          <a:xfrm>
            <a:off x="8737600" y="6245225"/>
            <a:ext cx="2641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smtClean="0"/>
            </a:lvl1pPr>
          </a:lstStyle>
          <a:p>
            <a:pPr>
              <a:defRPr/>
            </a:pPr>
            <a:fld id="{756AFA5A-A15D-402B-9810-66A481E98194}" type="slidenum">
              <a:rPr lang="en-US" altLang="en-US"/>
              <a:pPr>
                <a:defRPr/>
              </a:pPr>
              <a:t>‹#›</a:t>
            </a:fld>
            <a:endParaRPr lang="en-US" altLang="en-US"/>
          </a:p>
        </p:txBody>
      </p:sp>
    </p:spTree>
    <p:extLst>
      <p:ext uri="{BB962C8B-B14F-4D97-AF65-F5344CB8AC3E}">
        <p14:creationId xmlns:p14="http://schemas.microsoft.com/office/powerpoint/2010/main" val="11208012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rtl="0" eaLnBrk="0" fontAlgn="base" hangingPunct="0">
        <a:spcBef>
          <a:spcPct val="0"/>
        </a:spcBef>
        <a:spcAft>
          <a:spcPct val="0"/>
        </a:spcAft>
        <a:defRPr sz="3800">
          <a:solidFill>
            <a:schemeClr val="tx2"/>
          </a:solidFill>
          <a:latin typeface="+mj-lt"/>
          <a:ea typeface="+mj-ea"/>
          <a:cs typeface="+mj-cs"/>
        </a:defRPr>
      </a:lvl1pPr>
      <a:lvl2pPr algn="l" rtl="0" eaLnBrk="0" fontAlgn="base" hangingPunct="0">
        <a:spcBef>
          <a:spcPct val="0"/>
        </a:spcBef>
        <a:spcAft>
          <a:spcPct val="0"/>
        </a:spcAft>
        <a:defRPr sz="3800">
          <a:solidFill>
            <a:schemeClr val="tx2"/>
          </a:solidFill>
          <a:latin typeface="Verdana" pitchFamily="34" charset="0"/>
        </a:defRPr>
      </a:lvl2pPr>
      <a:lvl3pPr algn="l" rtl="0" eaLnBrk="0" fontAlgn="base" hangingPunct="0">
        <a:spcBef>
          <a:spcPct val="0"/>
        </a:spcBef>
        <a:spcAft>
          <a:spcPct val="0"/>
        </a:spcAft>
        <a:defRPr sz="3800">
          <a:solidFill>
            <a:schemeClr val="tx2"/>
          </a:solidFill>
          <a:latin typeface="Verdana" pitchFamily="34" charset="0"/>
        </a:defRPr>
      </a:lvl3pPr>
      <a:lvl4pPr algn="l" rtl="0" eaLnBrk="0" fontAlgn="base" hangingPunct="0">
        <a:spcBef>
          <a:spcPct val="0"/>
        </a:spcBef>
        <a:spcAft>
          <a:spcPct val="0"/>
        </a:spcAft>
        <a:defRPr sz="3800">
          <a:solidFill>
            <a:schemeClr val="tx2"/>
          </a:solidFill>
          <a:latin typeface="Verdana" pitchFamily="34" charset="0"/>
        </a:defRPr>
      </a:lvl4pPr>
      <a:lvl5pPr algn="l" rtl="0" eaLnBrk="0" fontAlgn="base" hangingPunct="0">
        <a:spcBef>
          <a:spcPct val="0"/>
        </a:spcBef>
        <a:spcAft>
          <a:spcPct val="0"/>
        </a:spcAft>
        <a:defRPr sz="3800">
          <a:solidFill>
            <a:schemeClr val="tx2"/>
          </a:solidFill>
          <a:latin typeface="Verdana" pitchFamily="34" charset="0"/>
        </a:defRPr>
      </a:lvl5pPr>
      <a:lvl6pPr marL="457200" algn="l" rtl="0" fontAlgn="base">
        <a:spcBef>
          <a:spcPct val="0"/>
        </a:spcBef>
        <a:spcAft>
          <a:spcPct val="0"/>
        </a:spcAft>
        <a:defRPr sz="3800">
          <a:solidFill>
            <a:schemeClr val="tx2"/>
          </a:solidFill>
          <a:latin typeface="Verdana" pitchFamily="34" charset="0"/>
        </a:defRPr>
      </a:lvl6pPr>
      <a:lvl7pPr marL="914400" algn="l" rtl="0" fontAlgn="base">
        <a:spcBef>
          <a:spcPct val="0"/>
        </a:spcBef>
        <a:spcAft>
          <a:spcPct val="0"/>
        </a:spcAft>
        <a:defRPr sz="3800">
          <a:solidFill>
            <a:schemeClr val="tx2"/>
          </a:solidFill>
          <a:latin typeface="Verdana" pitchFamily="34" charset="0"/>
        </a:defRPr>
      </a:lvl7pPr>
      <a:lvl8pPr marL="1371600" algn="l" rtl="0" fontAlgn="base">
        <a:spcBef>
          <a:spcPct val="0"/>
        </a:spcBef>
        <a:spcAft>
          <a:spcPct val="0"/>
        </a:spcAft>
        <a:defRPr sz="3800">
          <a:solidFill>
            <a:schemeClr val="tx2"/>
          </a:solidFill>
          <a:latin typeface="Verdana" pitchFamily="34" charset="0"/>
        </a:defRPr>
      </a:lvl8pPr>
      <a:lvl9pPr marL="1828800" algn="l" rtl="0" fontAlgn="base">
        <a:spcBef>
          <a:spcPct val="0"/>
        </a:spcBef>
        <a:spcAft>
          <a:spcPct val="0"/>
        </a:spcAft>
        <a:defRPr sz="3800">
          <a:solidFill>
            <a:schemeClr val="tx2"/>
          </a:solidFill>
          <a:latin typeface="Verdana" pitchFamily="34" charset="0"/>
        </a:defRPr>
      </a:lvl9pPr>
    </p:titleStyle>
    <p:body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9.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0.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4.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5.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6.xml"/><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19.xml"/><Relationship Id="rId6" Type="http://schemas.openxmlformats.org/officeDocument/2006/relationships/hyperlink" Target="https://developer.mozilla.org/" TargetMode="External"/><Relationship Id="rId5" Type="http://schemas.openxmlformats.org/officeDocument/2006/relationships/hyperlink" Target="https://www.openstreetmap.org/" TargetMode="External"/><Relationship Id="rId4" Type="http://schemas.openxmlformats.org/officeDocument/2006/relationships/hyperlink" Target="https://leafletjs.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D41A2FBB-F55B-9BAA-4EBD-7D6AD7B1D9C0}"/>
              </a:ext>
            </a:extLst>
          </p:cNvPr>
          <p:cNvSpPr txBox="1">
            <a:spLocks/>
          </p:cNvSpPr>
          <p:nvPr/>
        </p:nvSpPr>
        <p:spPr>
          <a:xfrm>
            <a:off x="577197" y="3026199"/>
            <a:ext cx="11037605" cy="1449308"/>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50000"/>
              </a:lnSpc>
            </a:pPr>
            <a:r>
              <a:rPr lang="en-US" sz="3600" b="1" dirty="0">
                <a:solidFill>
                  <a:srgbClr val="7030A0"/>
                </a:solidFill>
                <a:latin typeface="Times New Roman" panose="02020603050405020304" pitchFamily="18" charset="0"/>
                <a:cs typeface="Times New Roman" panose="02020603050405020304" pitchFamily="18" charset="0"/>
              </a:rPr>
              <a:t>WEB PROGRAMMING MINI PROJECT</a:t>
            </a:r>
          </a:p>
          <a:p>
            <a:pPr>
              <a:lnSpc>
                <a:spcPct val="150000"/>
              </a:lnSpc>
            </a:pPr>
            <a:r>
              <a:rPr lang="en-US" sz="1800" b="1" dirty="0">
                <a:solidFill>
                  <a:srgbClr val="7030A0"/>
                </a:solidFill>
                <a:latin typeface="Times New Roman" panose="02020603050405020304" pitchFamily="18" charset="0"/>
                <a:cs typeface="Times New Roman" panose="02020603050405020304" pitchFamily="18" charset="0"/>
              </a:rPr>
              <a:t>PAWADOPT - A Web-Based Pet Adoption and Rescue Platform</a:t>
            </a:r>
          </a:p>
          <a:p>
            <a:pPr algn="l">
              <a:lnSpc>
                <a:spcPct val="150000"/>
              </a:lnSpc>
            </a:pPr>
            <a:endParaRPr lang="en-IN" sz="2000" b="1" dirty="0">
              <a:solidFill>
                <a:schemeClr val="accent6">
                  <a:lumMod val="75000"/>
                </a:schemeClr>
              </a:solidFill>
              <a:latin typeface="Times New Roman" panose="02020603050405020304" pitchFamily="18" charset="0"/>
              <a:ea typeface="+mn-ea"/>
              <a:cs typeface="Times New Roman" panose="02020603050405020304" pitchFamily="18" charset="0"/>
            </a:endParaRPr>
          </a:p>
        </p:txBody>
      </p:sp>
      <p:sp>
        <p:nvSpPr>
          <p:cNvPr id="11" name="TextBox 1">
            <a:extLst>
              <a:ext uri="{FF2B5EF4-FFF2-40B4-BE49-F238E27FC236}">
                <a16:creationId xmlns:a16="http://schemas.microsoft.com/office/drawing/2014/main" id="{19A39F01-D00C-AF01-020F-6FE15F5B4206}"/>
              </a:ext>
            </a:extLst>
          </p:cNvPr>
          <p:cNvSpPr txBox="1">
            <a:spLocks noChangeArrowheads="1"/>
          </p:cNvSpPr>
          <p:nvPr/>
        </p:nvSpPr>
        <p:spPr bwMode="auto">
          <a:xfrm>
            <a:off x="3856179" y="4754964"/>
            <a:ext cx="447963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accent2"/>
              </a:buClr>
              <a:buFont typeface="Wingdings" panose="05000000000000000000" pitchFamily="2" charset="2"/>
              <a:buChar char="o"/>
              <a:defRPr sz="3000">
                <a:solidFill>
                  <a:schemeClr val="tx1"/>
                </a:solidFill>
                <a:latin typeface="Verdana" panose="020B0604030504040204" pitchFamily="34" charset="0"/>
              </a:defRPr>
            </a:lvl1pPr>
            <a:lvl2pPr marL="742950" indent="-285750">
              <a:spcBef>
                <a:spcPct val="20000"/>
              </a:spcBef>
              <a:buClr>
                <a:schemeClr val="accent2"/>
              </a:buClr>
              <a:buFont typeface="Wingdings" panose="05000000000000000000" pitchFamily="2" charset="2"/>
              <a:buChar char="n"/>
              <a:defRPr sz="2600">
                <a:solidFill>
                  <a:schemeClr val="tx1"/>
                </a:solidFill>
                <a:latin typeface="Verdana" panose="020B0604030504040204" pitchFamily="34" charset="0"/>
              </a:defRPr>
            </a:lvl2pPr>
            <a:lvl3pPr marL="1143000" indent="-228600">
              <a:spcBef>
                <a:spcPct val="20000"/>
              </a:spcBef>
              <a:buClr>
                <a:schemeClr val="accent2"/>
              </a:buClr>
              <a:buFont typeface="Wingdings" panose="05000000000000000000" pitchFamily="2" charset="2"/>
              <a:buChar char="o"/>
              <a:defRPr sz="2300">
                <a:solidFill>
                  <a:schemeClr val="tx1"/>
                </a:solidFill>
                <a:latin typeface="Verdana" panose="020B0604030504040204" pitchFamily="34" charset="0"/>
              </a:defRPr>
            </a:lvl3pPr>
            <a:lvl4pPr marL="1600200" indent="-228600">
              <a:spcBef>
                <a:spcPct val="20000"/>
              </a:spcBef>
              <a:buClr>
                <a:schemeClr val="accent2"/>
              </a:buClr>
              <a:buFont typeface="Wingdings" panose="05000000000000000000" pitchFamily="2" charset="2"/>
              <a:buChar char="n"/>
              <a:defRPr sz="2000">
                <a:solidFill>
                  <a:schemeClr val="tx1"/>
                </a:solidFill>
                <a:latin typeface="Verdana" panose="020B0604030504040204" pitchFamily="34" charset="0"/>
              </a:defRPr>
            </a:lvl4pPr>
            <a:lvl5pPr marL="2057400" indent="-228600">
              <a:spcBef>
                <a:spcPct val="25000"/>
              </a:spcBef>
              <a:buClr>
                <a:schemeClr val="accent2"/>
              </a:buClr>
              <a:buFont typeface="Wingdings" panose="05000000000000000000" pitchFamily="2" charset="2"/>
              <a:buChar char="§"/>
              <a:defRPr sz="2000">
                <a:solidFill>
                  <a:schemeClr val="tx1"/>
                </a:solidFill>
                <a:latin typeface="Verdana" panose="020B0604030504040204" pitchFamily="34" charset="0"/>
              </a:defRPr>
            </a:lvl5pPr>
            <a:lvl6pPr marL="25146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6pPr>
            <a:lvl7pPr marL="29718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7pPr>
            <a:lvl8pPr marL="34290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8pPr>
            <a:lvl9pPr marL="3886200" indent="-22860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Verdana" panose="020B0604030504040204" pitchFamily="34" charset="0"/>
              </a:defRPr>
            </a:lvl9pPr>
          </a:lstStyle>
          <a:p>
            <a:pPr algn="ct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NAME</a:t>
            </a:r>
            <a:r>
              <a:rPr lang="en-IN" altLang="en-US" sz="2000" b="1" dirty="0">
                <a:solidFill>
                  <a:srgbClr val="FF0000"/>
                </a:solidFill>
                <a:latin typeface="Times New Roman" panose="02020603050405020304" pitchFamily="18" charset="0"/>
                <a:cs typeface="Times New Roman" panose="02020603050405020304" pitchFamily="18" charset="0"/>
              </a:rPr>
              <a:t>: NANDHINI VELMURUGAN</a:t>
            </a:r>
          </a:p>
          <a:p>
            <a:pPr algn="ctr">
              <a:spcBef>
                <a:spcPct val="0"/>
              </a:spcBef>
              <a:buClrTx/>
              <a:buFontTx/>
              <a:buNone/>
            </a:pP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REG</a:t>
            </a:r>
            <a:r>
              <a:rPr lang="en-IN" altLang="en-US" sz="2000" b="1" dirty="0">
                <a:solidFill>
                  <a:srgbClr val="FF0000"/>
                </a:solidFill>
                <a:latin typeface="Times New Roman" panose="02020603050405020304" pitchFamily="18" charset="0"/>
                <a:cs typeface="Times New Roman" panose="02020603050405020304" pitchFamily="18" charset="0"/>
              </a:rPr>
              <a:t> </a:t>
            </a:r>
            <a:r>
              <a:rPr lang="en-IN" altLang="en-US" sz="2000" b="1" dirty="0">
                <a:solidFill>
                  <a:schemeClr val="accent6">
                    <a:lumMod val="75000"/>
                  </a:schemeClr>
                </a:solidFill>
                <a:latin typeface="Times New Roman" panose="02020603050405020304" pitchFamily="18" charset="0"/>
                <a:cs typeface="Times New Roman" panose="02020603050405020304" pitchFamily="18" charset="0"/>
              </a:rPr>
              <a:t>NO</a:t>
            </a:r>
            <a:r>
              <a:rPr lang="en-IN" altLang="en-US" sz="2000" b="1" dirty="0">
                <a:solidFill>
                  <a:srgbClr val="FF0000"/>
                </a:solidFill>
                <a:latin typeface="Times New Roman" panose="02020603050405020304" pitchFamily="18" charset="0"/>
                <a:cs typeface="Times New Roman" panose="02020603050405020304" pitchFamily="18" charset="0"/>
              </a:rPr>
              <a:t>: 2116241901063</a:t>
            </a:r>
          </a:p>
        </p:txBody>
      </p:sp>
      <p:sp>
        <p:nvSpPr>
          <p:cNvPr id="15" name="Title 1">
            <a:extLst>
              <a:ext uri="{FF2B5EF4-FFF2-40B4-BE49-F238E27FC236}">
                <a16:creationId xmlns:a16="http://schemas.microsoft.com/office/drawing/2014/main" id="{321851EC-AC90-1CBE-0738-0329685AB2AB}"/>
              </a:ext>
            </a:extLst>
          </p:cNvPr>
          <p:cNvSpPr txBox="1">
            <a:spLocks/>
          </p:cNvSpPr>
          <p:nvPr/>
        </p:nvSpPr>
        <p:spPr>
          <a:xfrm>
            <a:off x="708891" y="1213137"/>
            <a:ext cx="10515600" cy="1060363"/>
          </a:xfrm>
          <a:prstGeom prst="rect">
            <a:avLst/>
          </a:prstGeom>
        </p:spPr>
        <p:txBody>
          <a:bodyPr vert="horz" lIns="91440" tIns="45720" rIns="91440" bIns="45720" rtlCol="0" anchor="ctr">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3200" b="1" dirty="0">
                <a:solidFill>
                  <a:srgbClr val="002060"/>
                </a:solidFill>
                <a:latin typeface="Times New Roman" panose="02020603050405020304" pitchFamily="18" charset="0"/>
                <a:ea typeface="+mn-ea"/>
                <a:cs typeface="Times New Roman" panose="02020603050405020304" pitchFamily="18" charset="0"/>
              </a:rPr>
              <a:t>Department of Computer Science and Engineering </a:t>
            </a:r>
          </a:p>
          <a:p>
            <a:r>
              <a:rPr lang="en-IN" sz="3200" b="1" dirty="0">
                <a:solidFill>
                  <a:srgbClr val="002060"/>
                </a:solidFill>
                <a:latin typeface="Times New Roman" panose="02020603050405020304" pitchFamily="18" charset="0"/>
                <a:ea typeface="+mn-ea"/>
                <a:cs typeface="Times New Roman" panose="02020603050405020304" pitchFamily="18" charset="0"/>
              </a:rPr>
              <a:t>(Cyber Security)</a:t>
            </a:r>
          </a:p>
        </p:txBody>
      </p:sp>
      <p:pic>
        <p:nvPicPr>
          <p:cNvPr id="4" name="Picture 3">
            <a:extLst>
              <a:ext uri="{FF2B5EF4-FFF2-40B4-BE49-F238E27FC236}">
                <a16:creationId xmlns:a16="http://schemas.microsoft.com/office/drawing/2014/main" id="{E12ABC60-AF57-3F89-6270-EF5EDC1DC0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339" y="194915"/>
            <a:ext cx="2689499" cy="868776"/>
          </a:xfrm>
          <a:prstGeom prst="rect">
            <a:avLst/>
          </a:prstGeom>
        </p:spPr>
      </p:pic>
    </p:spTree>
    <p:extLst>
      <p:ext uri="{BB962C8B-B14F-4D97-AF65-F5344CB8AC3E}">
        <p14:creationId xmlns:p14="http://schemas.microsoft.com/office/powerpoint/2010/main" val="4233139276"/>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E018A-016D-CA20-9228-A14BE7D00458}"/>
              </a:ext>
            </a:extLst>
          </p:cNvPr>
          <p:cNvSpPr>
            <a:spLocks noGrp="1"/>
          </p:cNvSpPr>
          <p:nvPr>
            <p:ph type="title"/>
          </p:nvPr>
        </p:nvSpPr>
        <p:spPr/>
        <p:txBody>
          <a:bodyPr/>
          <a:lstStyle/>
          <a:p>
            <a:r>
              <a:rPr lang="en-IN" sz="3200" b="1" dirty="0">
                <a:solidFill>
                  <a:schemeClr val="accent6">
                    <a:lumMod val="75000"/>
                  </a:schemeClr>
                </a:solidFill>
                <a:latin typeface="Times New Roman" panose="02020603050405020304" pitchFamily="18" charset="0"/>
                <a:cs typeface="Times New Roman" panose="02020603050405020304" pitchFamily="18" charset="0"/>
              </a:rPr>
              <a:t>ABSTRACT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1F36FF0-FD4A-EE78-6CA2-4ADCB6BA1B65}"/>
              </a:ext>
            </a:extLst>
          </p:cNvPr>
          <p:cNvSpPr>
            <a:spLocks noGrp="1"/>
          </p:cNvSpPr>
          <p:nvPr>
            <p:ph idx="1"/>
          </p:nvPr>
        </p:nvSpPr>
        <p:spPr>
          <a:xfrm>
            <a:off x="755651" y="1838960"/>
            <a:ext cx="10668000" cy="4180840"/>
          </a:xfrm>
        </p:spPr>
        <p:txBody>
          <a:bodyPr/>
          <a:lstStyle/>
          <a:p>
            <a:pPr marL="0" lvl="0" indent="0" algn="just">
              <a:buNone/>
            </a:pPr>
            <a:r>
              <a:rPr lang="en-US" sz="2000" dirty="0" err="1"/>
              <a:t>PawAdopt</a:t>
            </a:r>
            <a:r>
              <a:rPr lang="en-US" sz="2000" dirty="0"/>
              <a:t> is a web-based pet adoption and rescue platform that connects caring families with verified rescue dogs, cats, birds and small companions. It gives adopters a single place to browse pets, search and filter by species, size and adoption status, and view health details such as vaccination, spay/neuter and microchip status. Shelters and individuals can list a pet through an online form. Pet locations are shown on an interactive map, colour-coded by status.</a:t>
            </a:r>
          </a:p>
          <a:p>
            <a:pPr marL="0" lvl="0" indent="0" algn="just">
              <a:buNone/>
            </a:pPr>
            <a:r>
              <a:rPr lang="en-US" sz="2000" dirty="0" err="1"/>
              <a:t>PawAdopt</a:t>
            </a:r>
            <a:r>
              <a:rPr lang="en-US" sz="2000" dirty="0"/>
              <a:t> is built with HTML5, CSS3, JavaScript and Leaflet.js. It demonstrates responsive design, DOM manipulation, event handling, form validation and third-party map integration in a practical web application.</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58386993"/>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DE721B2E-B8C7-05B9-5F04-C112E1E342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1ED4AC-7B43-3850-D243-BCD132E2C20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PROBLEM STATEMENT</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3A5961F-8A9B-F95A-BB8A-355C5A48346A}"/>
              </a:ext>
            </a:extLst>
          </p:cNvPr>
          <p:cNvSpPr>
            <a:spLocks noGrp="1"/>
          </p:cNvSpPr>
          <p:nvPr>
            <p:ph idx="1"/>
          </p:nvPr>
        </p:nvSpPr>
        <p:spPr/>
        <p:txBody>
          <a:bodyPr/>
          <a:lstStyle/>
          <a:p>
            <a:pPr marL="0" indent="0">
              <a:buNone/>
            </a:pPr>
            <a:r>
              <a:rPr lang="en-US" sz="1800" b="1" dirty="0"/>
              <a:t>Existing Problem</a:t>
            </a:r>
            <a:br>
              <a:rPr lang="en-US" sz="1800" dirty="0"/>
            </a:br>
            <a:r>
              <a:rPr lang="en-US" sz="1800" dirty="0"/>
              <a:t>Pet adoption information is scattered across social media posts, word of mouth and outdated shelter websites, which makes finding and trusting a pet listing difficult.</a:t>
            </a:r>
          </a:p>
          <a:p>
            <a:r>
              <a:rPr lang="en-US" sz="1800" dirty="0"/>
              <a:t>Common challenges include:</a:t>
            </a:r>
          </a:p>
          <a:p>
            <a:pPr lvl="0"/>
            <a:r>
              <a:rPr lang="en-US" sz="1800" dirty="0"/>
              <a:t>No single place to browse adoptable pets.</a:t>
            </a:r>
          </a:p>
          <a:p>
            <a:pPr lvl="0"/>
            <a:r>
              <a:rPr lang="en-US" sz="1800" dirty="0"/>
              <a:t>Difficulty searching by breed, size, species or personality.</a:t>
            </a:r>
          </a:p>
          <a:p>
            <a:pPr lvl="0"/>
            <a:r>
              <a:rPr lang="en-US" sz="1800" dirty="0"/>
              <a:t>Unclear health and vaccination information.</a:t>
            </a:r>
          </a:p>
          <a:p>
            <a:pPr lvl="0"/>
            <a:r>
              <a:rPr lang="en-US" sz="1800" dirty="0"/>
              <a:t>Hard to know whether a pet is still available, pending or already adopted.</a:t>
            </a:r>
          </a:p>
          <a:p>
            <a:pPr lvl="0"/>
            <a:r>
              <a:rPr lang="en-US" sz="1800" dirty="0"/>
              <a:t>No easy way to see where a pet is located.</a:t>
            </a:r>
          </a:p>
          <a:p>
            <a:pPr lvl="0"/>
            <a:r>
              <a:rPr lang="en-US" sz="1800" dirty="0"/>
              <a:t>No simple way for shelters to list animals online.</a:t>
            </a:r>
          </a:p>
          <a:p>
            <a:pPr marL="0" indent="0">
              <a:buNone/>
            </a:pPr>
            <a:r>
              <a:rPr lang="en-US" sz="1800" b="1" dirty="0"/>
              <a:t>Proposed Solution</a:t>
            </a:r>
            <a:br>
              <a:rPr lang="en-US" sz="1800" dirty="0"/>
            </a:br>
            <a:r>
              <a:rPr lang="en-US" sz="1800" dirty="0" err="1"/>
              <a:t>PawAdopt</a:t>
            </a:r>
            <a:r>
              <a:rPr lang="en-US" sz="1800" dirty="0"/>
              <a:t> provides a centralized, easy-to-use web platform where adopters can discover verified rescue pets and shelters can list them for adoption.</a:t>
            </a:r>
          </a:p>
        </p:txBody>
      </p:sp>
    </p:spTree>
    <p:extLst>
      <p:ext uri="{BB962C8B-B14F-4D97-AF65-F5344CB8AC3E}">
        <p14:creationId xmlns:p14="http://schemas.microsoft.com/office/powerpoint/2010/main" val="425264290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93C0248B-2475-1F5D-8468-A7692C4437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E15D0B-DFEC-BEAE-FA37-3BA19BDE3D97}"/>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PROJECT OBJECTIVES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DF2A637-A033-C4AC-ECC3-70868FE929FF}"/>
              </a:ext>
            </a:extLst>
          </p:cNvPr>
          <p:cNvSpPr>
            <a:spLocks noGrp="1"/>
          </p:cNvSpPr>
          <p:nvPr>
            <p:ph idx="1"/>
          </p:nvPr>
        </p:nvSpPr>
        <p:spPr/>
        <p:txBody>
          <a:bodyPr/>
          <a:lstStyle/>
          <a:p>
            <a:pPr lvl="0"/>
            <a:r>
              <a:rPr lang="en-US" sz="2000" dirty="0"/>
              <a:t>Develop an interactive and user-friendly pet adoption website.</a:t>
            </a:r>
          </a:p>
          <a:p>
            <a:pPr lvl="0"/>
            <a:r>
              <a:rPr lang="en-US" sz="2000" dirty="0"/>
              <a:t>Implement responsive web pages with a modern dark-themed interface.</a:t>
            </a:r>
          </a:p>
          <a:p>
            <a:pPr lvl="0"/>
            <a:r>
              <a:rPr lang="en-US" sz="2000" dirty="0"/>
              <a:t>Provide keyword search plus size, status and species filters.</a:t>
            </a:r>
          </a:p>
          <a:p>
            <a:pPr lvl="0"/>
            <a:r>
              <a:rPr lang="en-US" sz="2000" dirty="0"/>
              <a:t>Display verified medical details (vaccinated, spayed/neutered, microchipped).</a:t>
            </a:r>
          </a:p>
          <a:p>
            <a:pPr lvl="0"/>
            <a:r>
              <a:rPr lang="en-US" sz="2000" dirty="0"/>
              <a:t>Show pet status as Ready to Adopt, Pending or Adopted.</a:t>
            </a:r>
          </a:p>
          <a:p>
            <a:pPr lvl="0"/>
            <a:r>
              <a:rPr lang="en-US" sz="2000" dirty="0"/>
              <a:t>Integrate an interactive map of shelter and foster locations.</a:t>
            </a:r>
          </a:p>
          <a:p>
            <a:pPr lvl="0"/>
            <a:r>
              <a:rPr lang="en-US" sz="2000" dirty="0"/>
              <a:t>Create a </a:t>
            </a:r>
            <a:r>
              <a:rPr lang="en-US" sz="2000" i="1" dirty="0"/>
              <a:t>List a Pet</a:t>
            </a:r>
            <a:r>
              <a:rPr lang="en-US" sz="2000" dirty="0"/>
              <a:t> form with validation and photo upload.</a:t>
            </a:r>
          </a:p>
          <a:p>
            <a:pPr lvl="0"/>
            <a:r>
              <a:rPr lang="en-US" sz="2000" dirty="0"/>
              <a:t>Test the functionality and usability of the application.</a:t>
            </a:r>
          </a:p>
        </p:txBody>
      </p:sp>
    </p:spTree>
    <p:extLst>
      <p:ext uri="{BB962C8B-B14F-4D97-AF65-F5344CB8AC3E}">
        <p14:creationId xmlns:p14="http://schemas.microsoft.com/office/powerpoint/2010/main" val="46862131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757CF5D-142D-473C-E195-36EB23B9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5ED407-BAD9-643C-0875-B881EC2A5E38}"/>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TOOLS AND TECHNOLOGIES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B7F5649-1329-E9A0-92EE-5156008061E1}"/>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CB4DC585-490D-2D5B-86B2-4BD60ABDE9CC}"/>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endParaRPr lang="en-IN" sz="2000" kern="0" dirty="0">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753B8DCC-7B3E-EDE2-5B52-77CC24E818D1}"/>
              </a:ext>
            </a:extLst>
          </p:cNvPr>
          <p:cNvGraphicFramePr>
            <a:graphicFrameLocks noGrp="1"/>
          </p:cNvGraphicFramePr>
          <p:nvPr>
            <p:extLst>
              <p:ext uri="{D42A27DB-BD31-4B8C-83A1-F6EECF244321}">
                <p14:modId xmlns:p14="http://schemas.microsoft.com/office/powerpoint/2010/main" val="3963626231"/>
              </p:ext>
            </p:extLst>
          </p:nvPr>
        </p:nvGraphicFramePr>
        <p:xfrm>
          <a:off x="766233" y="1905000"/>
          <a:ext cx="10668000" cy="3855720"/>
        </p:xfrm>
        <a:graphic>
          <a:graphicData uri="http://schemas.openxmlformats.org/drawingml/2006/table">
            <a:tbl>
              <a:tblPr firstRow="1" bandRow="1">
                <a:tableStyleId>{5C22544A-7EE6-4342-B048-85BDC9FD1C3A}</a:tableStyleId>
              </a:tblPr>
              <a:tblGrid>
                <a:gridCol w="2602609">
                  <a:extLst>
                    <a:ext uri="{9D8B030D-6E8A-4147-A177-3AD203B41FA5}">
                      <a16:colId xmlns:a16="http://schemas.microsoft.com/office/drawing/2014/main" val="4272935551"/>
                    </a:ext>
                  </a:extLst>
                </a:gridCol>
                <a:gridCol w="4509391">
                  <a:extLst>
                    <a:ext uri="{9D8B030D-6E8A-4147-A177-3AD203B41FA5}">
                      <a16:colId xmlns:a16="http://schemas.microsoft.com/office/drawing/2014/main" val="1096121611"/>
                    </a:ext>
                  </a:extLst>
                </a:gridCol>
                <a:gridCol w="3556000">
                  <a:extLst>
                    <a:ext uri="{9D8B030D-6E8A-4147-A177-3AD203B41FA5}">
                      <a16:colId xmlns:a16="http://schemas.microsoft.com/office/drawing/2014/main" val="4171728505"/>
                    </a:ext>
                  </a:extLst>
                </a:gridCol>
              </a:tblGrid>
              <a:tr h="370840">
                <a:tc>
                  <a:txBody>
                    <a:bodyPr/>
                    <a:lstStyle/>
                    <a:p>
                      <a:r>
                        <a:rPr lang="en-US" sz="1400"/>
                        <a:t>CATEGORY</a:t>
                      </a:r>
                      <a:endParaRPr lang="en-US" sz="1400" dirty="0"/>
                    </a:p>
                  </a:txBody>
                  <a:tcPr/>
                </a:tc>
                <a:tc>
                  <a:txBody>
                    <a:bodyPr/>
                    <a:lstStyle/>
                    <a:p>
                      <a:r>
                        <a:rPr lang="en-US" sz="1400" dirty="0"/>
                        <a:t>TECHNOLOGY</a:t>
                      </a:r>
                    </a:p>
                  </a:txBody>
                  <a:tcPr/>
                </a:tc>
                <a:tc>
                  <a:txBody>
                    <a:bodyPr/>
                    <a:lstStyle/>
                    <a:p>
                      <a:r>
                        <a:rPr lang="en-US" sz="1400" dirty="0"/>
                        <a:t>PURPOSE</a:t>
                      </a:r>
                    </a:p>
                  </a:txBody>
                  <a:tcPr/>
                </a:tc>
                <a:extLst>
                  <a:ext uri="{0D108BD9-81ED-4DB2-BD59-A6C34878D82A}">
                    <a16:rowId xmlns:a16="http://schemas.microsoft.com/office/drawing/2014/main" val="1819987628"/>
                  </a:ext>
                </a:extLst>
              </a:tr>
              <a:tr h="370840">
                <a:tc>
                  <a:txBody>
                    <a:bodyPr/>
                    <a:lstStyle/>
                    <a:p>
                      <a:r>
                        <a:rPr lang="en-US" sz="1400" b="0" i="0" kern="1200">
                          <a:solidFill>
                            <a:schemeClr val="dk1"/>
                          </a:solidFill>
                          <a:effectLst/>
                          <a:latin typeface="+mn-lt"/>
                          <a:ea typeface="+mn-ea"/>
                          <a:cs typeface="+mn-cs"/>
                        </a:rPr>
                        <a:t>Frontend</a:t>
                      </a:r>
                      <a:endParaRPr lang="en-US" sz="1400" dirty="0"/>
                    </a:p>
                  </a:txBody>
                  <a:tcPr/>
                </a:tc>
                <a:tc>
                  <a:txBody>
                    <a:bodyPr/>
                    <a:lstStyle/>
                    <a:p>
                      <a:pPr marL="0" algn="l" defTabSz="914400" rtl="0" eaLnBrk="1" latinLnBrk="0" hangingPunct="1"/>
                      <a:r>
                        <a:rPr lang="en-US" sz="1400" b="0" i="0" kern="1200" dirty="0">
                          <a:solidFill>
                            <a:schemeClr val="dk1"/>
                          </a:solidFill>
                          <a:effectLst/>
                          <a:latin typeface="+mn-lt"/>
                          <a:ea typeface="+mn-ea"/>
                          <a:cs typeface="+mn-cs"/>
                        </a:rPr>
                        <a:t>HTML5, CSS3, JavaScript</a:t>
                      </a:r>
                    </a:p>
                  </a:txBody>
                  <a:tcPr/>
                </a:tc>
                <a:tc>
                  <a:txBody>
                    <a:bodyPr/>
                    <a:lstStyle/>
                    <a:p>
                      <a:r>
                        <a:rPr lang="en-US" sz="1400" b="0" i="0" kern="1200" dirty="0">
                          <a:solidFill>
                            <a:schemeClr val="dk1"/>
                          </a:solidFill>
                          <a:effectLst/>
                          <a:latin typeface="+mn-lt"/>
                          <a:ea typeface="+mn-ea"/>
                          <a:cs typeface="+mn-cs"/>
                        </a:rPr>
                        <a:t>Page structure, styling and interactivity</a:t>
                      </a:r>
                    </a:p>
                  </a:txBody>
                  <a:tcPr/>
                </a:tc>
                <a:extLst>
                  <a:ext uri="{0D108BD9-81ED-4DB2-BD59-A6C34878D82A}">
                    <a16:rowId xmlns:a16="http://schemas.microsoft.com/office/drawing/2014/main" val="660429913"/>
                  </a:ext>
                </a:extLst>
              </a:tr>
              <a:tr h="370840">
                <a:tc>
                  <a:txBody>
                    <a:bodyPr/>
                    <a:lstStyle/>
                    <a:p>
                      <a:r>
                        <a:rPr lang="en-US" sz="1400" b="0" i="0" kern="1200" dirty="0">
                          <a:solidFill>
                            <a:schemeClr val="dk1"/>
                          </a:solidFill>
                          <a:effectLst/>
                          <a:latin typeface="+mn-lt"/>
                          <a:ea typeface="+mn-ea"/>
                          <a:cs typeface="+mn-cs"/>
                        </a:rPr>
                        <a:t>Styling</a:t>
                      </a:r>
                      <a:endParaRPr lang="en-US" sz="1400" dirty="0"/>
                    </a:p>
                  </a:txBody>
                  <a:tcPr/>
                </a:tc>
                <a:tc>
                  <a:txBody>
                    <a:bodyPr/>
                    <a:lstStyle/>
                    <a:p>
                      <a:pPr marL="0" algn="l" defTabSz="914400" rtl="0" eaLnBrk="1" latinLnBrk="0" hangingPunct="1"/>
                      <a:r>
                        <a:rPr lang="en-US" sz="1400" b="0" i="0" kern="1200" dirty="0">
                          <a:solidFill>
                            <a:schemeClr val="dk1"/>
                          </a:solidFill>
                          <a:effectLst/>
                          <a:latin typeface="+mn-lt"/>
                          <a:ea typeface="+mn-ea"/>
                          <a:cs typeface="+mn-cs"/>
                        </a:rPr>
                        <a:t>CSS Flexbox, Grid, gradients</a:t>
                      </a:r>
                    </a:p>
                  </a:txBody>
                  <a:tcPr/>
                </a:tc>
                <a:tc>
                  <a:txBody>
                    <a:bodyPr/>
                    <a:lstStyle/>
                    <a:p>
                      <a:r>
                        <a:rPr lang="en-US" sz="1400" dirty="0"/>
                        <a:t>Responsive layout and dark UI</a:t>
                      </a:r>
                    </a:p>
                  </a:txBody>
                  <a:tcPr/>
                </a:tc>
                <a:extLst>
                  <a:ext uri="{0D108BD9-81ED-4DB2-BD59-A6C34878D82A}">
                    <a16:rowId xmlns:a16="http://schemas.microsoft.com/office/drawing/2014/main" val="3440506762"/>
                  </a:ext>
                </a:extLst>
              </a:tr>
              <a:tr h="370840">
                <a:tc>
                  <a:txBody>
                    <a:bodyPr/>
                    <a:lstStyle/>
                    <a:p>
                      <a:r>
                        <a:rPr lang="en-US" sz="1400" b="0" i="0" kern="1200">
                          <a:solidFill>
                            <a:schemeClr val="dk1"/>
                          </a:solidFill>
                          <a:effectLst/>
                          <a:latin typeface="+mn-lt"/>
                          <a:ea typeface="+mn-ea"/>
                          <a:cs typeface="+mn-cs"/>
                        </a:rPr>
                        <a:t>Map Library</a:t>
                      </a:r>
                      <a:endParaRPr lang="en-US" sz="1400" dirty="0"/>
                    </a:p>
                  </a:txBody>
                  <a:tcPr/>
                </a:tc>
                <a:tc>
                  <a:txBody>
                    <a:bodyPr/>
                    <a:lstStyle/>
                    <a:p>
                      <a:pPr marL="0" algn="l" defTabSz="914400" rtl="0" eaLnBrk="1" latinLnBrk="0" hangingPunct="1"/>
                      <a:r>
                        <a:rPr lang="en-US" sz="1400" b="0" i="0" kern="1200" dirty="0">
                          <a:solidFill>
                            <a:schemeClr val="dk1"/>
                          </a:solidFill>
                          <a:effectLst/>
                          <a:latin typeface="+mn-lt"/>
                          <a:ea typeface="+mn-ea"/>
                          <a:cs typeface="+mn-cs"/>
                        </a:rPr>
                        <a:t>Leaflet.js</a:t>
                      </a:r>
                    </a:p>
                  </a:txBody>
                  <a:tcPr/>
                </a:tc>
                <a:tc>
                  <a:txBody>
                    <a:bodyPr/>
                    <a:lstStyle/>
                    <a:p>
                      <a:r>
                        <a:rPr lang="en-US" sz="1400" dirty="0"/>
                        <a:t>Interactive shelter map</a:t>
                      </a:r>
                    </a:p>
                  </a:txBody>
                  <a:tcPr/>
                </a:tc>
                <a:extLst>
                  <a:ext uri="{0D108BD9-81ED-4DB2-BD59-A6C34878D82A}">
                    <a16:rowId xmlns:a16="http://schemas.microsoft.com/office/drawing/2014/main" val="1089990553"/>
                  </a:ext>
                </a:extLst>
              </a:tr>
              <a:tr h="370840">
                <a:tc>
                  <a:txBody>
                    <a:bodyPr/>
                    <a:lstStyle/>
                    <a:p>
                      <a:r>
                        <a:rPr lang="en-US" sz="1400" b="0" i="0" kern="1200">
                          <a:solidFill>
                            <a:schemeClr val="dk1"/>
                          </a:solidFill>
                          <a:effectLst/>
                          <a:latin typeface="+mn-lt"/>
                          <a:ea typeface="+mn-ea"/>
                          <a:cs typeface="+mn-cs"/>
                        </a:rPr>
                        <a:t>Map Data</a:t>
                      </a:r>
                      <a:endParaRPr lang="en-US" sz="1400" dirty="0"/>
                    </a:p>
                  </a:txBody>
                  <a:tcPr/>
                </a:tc>
                <a:tc>
                  <a:txBody>
                    <a:bodyPr/>
                    <a:lstStyle/>
                    <a:p>
                      <a:r>
                        <a:rPr lang="en-US" sz="1400" b="0" i="0" kern="1200" dirty="0">
                          <a:solidFill>
                            <a:schemeClr val="dk1"/>
                          </a:solidFill>
                          <a:effectLst/>
                          <a:latin typeface="+mn-lt"/>
                          <a:ea typeface="+mn-ea"/>
                          <a:cs typeface="+mn-cs"/>
                        </a:rPr>
                        <a:t>OpenStreetMap</a:t>
                      </a:r>
                      <a:endParaRPr lang="en-US" sz="1400" dirty="0"/>
                    </a:p>
                  </a:txBody>
                  <a:tcPr/>
                </a:tc>
                <a:tc>
                  <a:txBody>
                    <a:bodyPr/>
                    <a:lstStyle/>
                    <a:p>
                      <a:r>
                        <a:rPr lang="en-US" sz="1400" dirty="0"/>
                        <a:t>Map tiles</a:t>
                      </a:r>
                    </a:p>
                  </a:txBody>
                  <a:tcPr/>
                </a:tc>
                <a:extLst>
                  <a:ext uri="{0D108BD9-81ED-4DB2-BD59-A6C34878D82A}">
                    <a16:rowId xmlns:a16="http://schemas.microsoft.com/office/drawing/2014/main" val="3297446597"/>
                  </a:ext>
                </a:extLst>
              </a:tr>
              <a:tr h="370840">
                <a:tc>
                  <a:txBody>
                    <a:bodyPr/>
                    <a:lstStyle/>
                    <a:p>
                      <a:r>
                        <a:rPr lang="en-US" sz="1400" b="0" i="0" kern="1200">
                          <a:solidFill>
                            <a:schemeClr val="dk1"/>
                          </a:solidFill>
                          <a:effectLst/>
                          <a:latin typeface="+mn-lt"/>
                          <a:ea typeface="+mn-ea"/>
                          <a:cs typeface="+mn-cs"/>
                        </a:rPr>
                        <a:t>Fonts and Icons</a:t>
                      </a:r>
                      <a:endParaRPr lang="en-US" sz="1400" dirty="0"/>
                    </a:p>
                  </a:txBody>
                  <a:tcPr/>
                </a:tc>
                <a:tc>
                  <a:txBody>
                    <a:bodyPr/>
                    <a:lstStyle/>
                    <a:p>
                      <a:r>
                        <a:rPr lang="fr-FR" sz="1400" b="0" i="0" kern="1200" dirty="0">
                          <a:solidFill>
                            <a:schemeClr val="dk1"/>
                          </a:solidFill>
                          <a:effectLst/>
                          <a:latin typeface="+mn-lt"/>
                          <a:ea typeface="+mn-ea"/>
                          <a:cs typeface="+mn-cs"/>
                        </a:rPr>
                        <a:t>Google Fonts, SVG </a:t>
                      </a:r>
                      <a:r>
                        <a:rPr lang="fr-FR" sz="1400" b="0" i="0" kern="1200" dirty="0" err="1">
                          <a:solidFill>
                            <a:schemeClr val="dk1"/>
                          </a:solidFill>
                          <a:effectLst/>
                          <a:latin typeface="+mn-lt"/>
                          <a:ea typeface="+mn-ea"/>
                          <a:cs typeface="+mn-cs"/>
                        </a:rPr>
                        <a:t>icons</a:t>
                      </a:r>
                      <a:r>
                        <a:rPr lang="fr-FR" sz="1400" b="0" i="0" kern="1200" dirty="0">
                          <a:solidFill>
                            <a:schemeClr val="dk1"/>
                          </a:solidFill>
                          <a:effectLst/>
                          <a:latin typeface="+mn-lt"/>
                          <a:ea typeface="+mn-ea"/>
                          <a:cs typeface="+mn-cs"/>
                        </a:rPr>
                        <a:t>, emojis</a:t>
                      </a:r>
                      <a:endParaRPr lang="en-US" sz="1400" dirty="0"/>
                    </a:p>
                  </a:txBody>
                  <a:tcPr/>
                </a:tc>
                <a:tc>
                  <a:txBody>
                    <a:bodyPr/>
                    <a:lstStyle/>
                    <a:p>
                      <a:r>
                        <a:rPr lang="en-US" sz="1400" dirty="0"/>
                        <a:t>Typography and visuals</a:t>
                      </a:r>
                    </a:p>
                  </a:txBody>
                  <a:tcPr/>
                </a:tc>
                <a:extLst>
                  <a:ext uri="{0D108BD9-81ED-4DB2-BD59-A6C34878D82A}">
                    <a16:rowId xmlns:a16="http://schemas.microsoft.com/office/drawing/2014/main" val="86007430"/>
                  </a:ext>
                </a:extLst>
              </a:tr>
              <a:tr h="370840">
                <a:tc>
                  <a:txBody>
                    <a:bodyPr/>
                    <a:lstStyle/>
                    <a:p>
                      <a:r>
                        <a:rPr lang="en-US" sz="1400" b="0" i="0" kern="1200" dirty="0">
                          <a:solidFill>
                            <a:schemeClr val="dk1"/>
                          </a:solidFill>
                          <a:effectLst/>
                          <a:latin typeface="+mn-lt"/>
                          <a:ea typeface="+mn-ea"/>
                          <a:cs typeface="+mn-cs"/>
                        </a:rPr>
                        <a:t>Data Handling</a:t>
                      </a:r>
                      <a:endParaRPr lang="en-US" sz="1400" dirty="0"/>
                    </a:p>
                  </a:txBody>
                  <a:tcPr/>
                </a:tc>
                <a:tc>
                  <a:txBody>
                    <a:bodyPr/>
                    <a:lstStyle/>
                    <a:p>
                      <a:r>
                        <a:rPr lang="en-US" sz="1400" b="0" i="0" kern="1200" dirty="0">
                          <a:solidFill>
                            <a:schemeClr val="dk1"/>
                          </a:solidFill>
                          <a:effectLst/>
                          <a:latin typeface="+mn-lt"/>
                          <a:ea typeface="+mn-ea"/>
                          <a:cs typeface="+mn-cs"/>
                        </a:rPr>
                        <a:t>JavaScript objects / </a:t>
                      </a:r>
                      <a:r>
                        <a:rPr lang="en-US" sz="1400" b="0" i="0" kern="1200" dirty="0" err="1">
                          <a:solidFill>
                            <a:schemeClr val="dk1"/>
                          </a:solidFill>
                          <a:effectLst/>
                          <a:latin typeface="+mn-lt"/>
                          <a:ea typeface="+mn-ea"/>
                          <a:cs typeface="+mn-cs"/>
                        </a:rPr>
                        <a:t>localStorage</a:t>
                      </a:r>
                      <a:endParaRPr lang="en-US" sz="1400" dirty="0"/>
                    </a:p>
                  </a:txBody>
                  <a:tcPr/>
                </a:tc>
                <a:tc>
                  <a:txBody>
                    <a:bodyPr/>
                    <a:lstStyle/>
                    <a:p>
                      <a:r>
                        <a:rPr lang="en-US" sz="1400" dirty="0"/>
                        <a:t>Storing pet records</a:t>
                      </a:r>
                    </a:p>
                  </a:txBody>
                  <a:tcPr/>
                </a:tc>
                <a:extLst>
                  <a:ext uri="{0D108BD9-81ED-4DB2-BD59-A6C34878D82A}">
                    <a16:rowId xmlns:a16="http://schemas.microsoft.com/office/drawing/2014/main" val="3551550927"/>
                  </a:ext>
                </a:extLst>
              </a:tr>
              <a:tr h="370840">
                <a:tc>
                  <a:txBody>
                    <a:bodyPr/>
                    <a:lstStyle/>
                    <a:p>
                      <a:r>
                        <a:rPr lang="en-US" sz="1400" b="0" i="0" kern="1200" dirty="0">
                          <a:solidFill>
                            <a:schemeClr val="dk1"/>
                          </a:solidFill>
                          <a:effectLst/>
                          <a:latin typeface="+mn-lt"/>
                          <a:ea typeface="+mn-ea"/>
                          <a:cs typeface="+mn-cs"/>
                        </a:rPr>
                        <a:t>Development Environment</a:t>
                      </a:r>
                      <a:endParaRPr lang="en-US" sz="1400" dirty="0"/>
                    </a:p>
                  </a:txBody>
                  <a:tcPr/>
                </a:tc>
                <a:tc>
                  <a:txBody>
                    <a:bodyPr/>
                    <a:lstStyle/>
                    <a:p>
                      <a:r>
                        <a:rPr lang="en-US" sz="1400" b="0" i="0" kern="1200" dirty="0">
                          <a:solidFill>
                            <a:schemeClr val="dk1"/>
                          </a:solidFill>
                          <a:effectLst/>
                          <a:latin typeface="+mn-lt"/>
                          <a:ea typeface="+mn-ea"/>
                          <a:cs typeface="+mn-cs"/>
                        </a:rPr>
                        <a:t>VS Code</a:t>
                      </a:r>
                      <a:endParaRPr lang="en-US" sz="1400" dirty="0"/>
                    </a:p>
                  </a:txBody>
                  <a:tcPr/>
                </a:tc>
                <a:tc>
                  <a:txBody>
                    <a:bodyPr/>
                    <a:lstStyle/>
                    <a:p>
                      <a:r>
                        <a:rPr lang="en-US" sz="1400" dirty="0"/>
                        <a:t>Coding and debugging</a:t>
                      </a:r>
                    </a:p>
                  </a:txBody>
                  <a:tcPr/>
                </a:tc>
                <a:extLst>
                  <a:ext uri="{0D108BD9-81ED-4DB2-BD59-A6C34878D82A}">
                    <a16:rowId xmlns:a16="http://schemas.microsoft.com/office/drawing/2014/main" val="2922216873"/>
                  </a:ext>
                </a:extLst>
              </a:tr>
              <a:tr h="370840">
                <a:tc>
                  <a:txBody>
                    <a:bodyPr/>
                    <a:lstStyle/>
                    <a:p>
                      <a:r>
                        <a:rPr lang="en-US" sz="1400" b="0" i="0" kern="1200" dirty="0">
                          <a:solidFill>
                            <a:schemeClr val="dk1"/>
                          </a:solidFill>
                          <a:effectLst/>
                          <a:latin typeface="+mn-lt"/>
                          <a:ea typeface="+mn-ea"/>
                          <a:cs typeface="+mn-cs"/>
                        </a:rPr>
                        <a:t>Browser Tools</a:t>
                      </a:r>
                      <a:endParaRPr lang="en-US" sz="1400" dirty="0"/>
                    </a:p>
                  </a:txBody>
                  <a:tcPr/>
                </a:tc>
                <a:tc>
                  <a:txBody>
                    <a:bodyPr/>
                    <a:lstStyle/>
                    <a:p>
                      <a:r>
                        <a:rPr lang="en-US" sz="1400" dirty="0"/>
                        <a:t>Chrome </a:t>
                      </a:r>
                      <a:r>
                        <a:rPr lang="en-US" sz="1400" dirty="0" err="1"/>
                        <a:t>DevTools</a:t>
                      </a:r>
                      <a:endParaRPr lang="en-US" sz="1400" dirty="0"/>
                    </a:p>
                  </a:txBody>
                  <a:tcPr/>
                </a:tc>
                <a:tc>
                  <a:txBody>
                    <a:bodyPr/>
                    <a:lstStyle/>
                    <a:p>
                      <a:r>
                        <a:rPr lang="en-US" sz="1400" dirty="0"/>
                        <a:t>Testing and debugging</a:t>
                      </a:r>
                    </a:p>
                  </a:txBody>
                  <a:tcPr/>
                </a:tc>
                <a:extLst>
                  <a:ext uri="{0D108BD9-81ED-4DB2-BD59-A6C34878D82A}">
                    <a16:rowId xmlns:a16="http://schemas.microsoft.com/office/drawing/2014/main" val="1467084088"/>
                  </a:ext>
                </a:extLst>
              </a:tr>
              <a:tr h="370840">
                <a:tc>
                  <a:txBody>
                    <a:bodyPr/>
                    <a:lstStyle/>
                    <a:p>
                      <a:r>
                        <a:rPr lang="en-US" sz="1400" b="0" i="0" kern="1200" dirty="0">
                          <a:solidFill>
                            <a:schemeClr val="dk1"/>
                          </a:solidFill>
                          <a:effectLst/>
                          <a:latin typeface="+mn-lt"/>
                          <a:ea typeface="+mn-ea"/>
                          <a:cs typeface="+mn-cs"/>
                        </a:rPr>
                        <a:t>Version Control</a:t>
                      </a:r>
                      <a:endParaRPr lang="en-US" sz="1400" dirty="0"/>
                    </a:p>
                  </a:txBody>
                  <a:tcPr/>
                </a:tc>
                <a:tc>
                  <a:txBody>
                    <a:bodyPr/>
                    <a:lstStyle/>
                    <a:p>
                      <a:r>
                        <a:rPr lang="en-US" sz="1400" dirty="0"/>
                        <a:t>Git / GitHub</a:t>
                      </a:r>
                    </a:p>
                  </a:txBody>
                  <a:tcPr/>
                </a:tc>
                <a:tc>
                  <a:txBody>
                    <a:bodyPr/>
                    <a:lstStyle/>
                    <a:p>
                      <a:r>
                        <a:rPr lang="en-US" sz="1400" dirty="0"/>
                        <a:t>Tracking code changes</a:t>
                      </a:r>
                    </a:p>
                  </a:txBody>
                  <a:tcPr/>
                </a:tc>
                <a:extLst>
                  <a:ext uri="{0D108BD9-81ED-4DB2-BD59-A6C34878D82A}">
                    <a16:rowId xmlns:a16="http://schemas.microsoft.com/office/drawing/2014/main" val="3932005066"/>
                  </a:ext>
                </a:extLst>
              </a:tr>
            </a:tbl>
          </a:graphicData>
        </a:graphic>
      </p:graphicFrame>
    </p:spTree>
    <p:extLst>
      <p:ext uri="{BB962C8B-B14F-4D97-AF65-F5344CB8AC3E}">
        <p14:creationId xmlns:p14="http://schemas.microsoft.com/office/powerpoint/2010/main" val="361721638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323B7E46-C847-B515-C18B-AF521A6E57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AD6CD4-9B16-8D35-0401-3C3721A66DD4}"/>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SYSTEM ARCHITECTURE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666B314-6BEF-AAB3-0EA3-962043AA0378}"/>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AA05941C-A0B2-1D53-6B19-FD16E8FAA7D9}"/>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endParaRPr lang="en-IN" sz="2000" kern="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A38389ED-D23D-E18B-83A7-2B18DE342D06}"/>
              </a:ext>
            </a:extLst>
          </p:cNvPr>
          <p:cNvPicPr>
            <a:picLocks noChangeAspect="1"/>
          </p:cNvPicPr>
          <p:nvPr/>
        </p:nvPicPr>
        <p:blipFill>
          <a:blip r:embed="rId4"/>
          <a:stretch>
            <a:fillRect/>
          </a:stretch>
        </p:blipFill>
        <p:spPr>
          <a:xfrm>
            <a:off x="2832241" y="1752600"/>
            <a:ext cx="6527519" cy="4300119"/>
          </a:xfrm>
          <a:prstGeom prst="rect">
            <a:avLst/>
          </a:prstGeom>
        </p:spPr>
      </p:pic>
    </p:spTree>
    <p:extLst>
      <p:ext uri="{BB962C8B-B14F-4D97-AF65-F5344CB8AC3E}">
        <p14:creationId xmlns:p14="http://schemas.microsoft.com/office/powerpoint/2010/main" val="182720162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F12514DB-8483-6908-7CA3-771CA3C6FF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25D26-F1ED-6311-6C6A-82E59760E364}"/>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5EE6816-B529-F0A8-DFE8-EB60AB96B3C3}"/>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4D52F278-0566-31D4-10E0-8431DA5E81D8}"/>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buNone/>
            </a:pPr>
            <a:r>
              <a:rPr lang="en-US" sz="2000" b="1" dirty="0"/>
              <a:t>1. Home / Hero Module</a:t>
            </a:r>
            <a:endParaRPr lang="en-US" sz="2000" dirty="0"/>
          </a:p>
          <a:p>
            <a:pPr lvl="0"/>
            <a:r>
              <a:rPr lang="en-US" sz="2000" dirty="0"/>
              <a:t>Shows the tagline, navigation bar and call-to-action buttons.</a:t>
            </a:r>
          </a:p>
          <a:p>
            <a:pPr lvl="0"/>
            <a:r>
              <a:rPr lang="en-US" sz="2000" dirty="0"/>
              <a:t>Shows live stats: Ready for Adoption, Pending Inquiries, Happily Adopted and 100% Health Vetted.</a:t>
            </a:r>
          </a:p>
          <a:p>
            <a:pPr marL="0" indent="0">
              <a:buNone/>
            </a:pPr>
            <a:r>
              <a:rPr lang="en-US" sz="2000" b="1" dirty="0"/>
              <a:t>2. Pet Listing Module</a:t>
            </a:r>
            <a:endParaRPr lang="en-US" sz="2000" dirty="0"/>
          </a:p>
          <a:p>
            <a:pPr lvl="0"/>
            <a:r>
              <a:rPr lang="en-US" sz="2000" dirty="0"/>
              <a:t>Displays pets as cards with photo, status, fee, age, gender and breed.</a:t>
            </a:r>
          </a:p>
          <a:p>
            <a:pPr lvl="0"/>
            <a:r>
              <a:rPr lang="en-US" sz="2000" dirty="0"/>
              <a:t>Shows health tags and personality traits.</a:t>
            </a:r>
          </a:p>
          <a:p>
            <a:pPr marL="0" indent="0">
              <a:buNone/>
            </a:pPr>
            <a:r>
              <a:rPr lang="en-US" sz="2000" b="1" dirty="0"/>
              <a:t>3. Search and Filter Module</a:t>
            </a:r>
            <a:endParaRPr lang="en-US" sz="2000" dirty="0"/>
          </a:p>
          <a:p>
            <a:pPr lvl="0"/>
            <a:r>
              <a:rPr lang="en-US" sz="2000" dirty="0"/>
              <a:t>Keyword search by breed, personality or “good with kids”.</a:t>
            </a:r>
          </a:p>
          <a:p>
            <a:pPr lvl="0"/>
            <a:r>
              <a:rPr lang="en-US" sz="2000" dirty="0"/>
              <a:t>Filters by size, status and species, with sorting such as </a:t>
            </a:r>
            <a:r>
              <a:rPr lang="en-US" sz="2000" i="1" dirty="0"/>
              <a:t>Recently Added</a:t>
            </a:r>
            <a:r>
              <a:rPr lang="en-US" sz="2000" dirty="0"/>
              <a:t>.</a:t>
            </a:r>
          </a:p>
          <a:p>
            <a:endParaRPr lang="en-IN" sz="2000" dirty="0"/>
          </a:p>
        </p:txBody>
      </p:sp>
    </p:spTree>
    <p:extLst>
      <p:ext uri="{BB962C8B-B14F-4D97-AF65-F5344CB8AC3E}">
        <p14:creationId xmlns:p14="http://schemas.microsoft.com/office/powerpoint/2010/main" val="65165471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7F1FCD74-D355-1FF2-4C75-799D693054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3BA958-39C4-D056-8FF4-DFF7E7490937}"/>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MODULES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8B1F3CA-F125-0324-2D17-E58730A1AFBF}"/>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Content Placeholder 2">
            <a:extLst>
              <a:ext uri="{FF2B5EF4-FFF2-40B4-BE49-F238E27FC236}">
                <a16:creationId xmlns:a16="http://schemas.microsoft.com/office/drawing/2014/main" id="{2CA9281D-CC2C-2D4B-1580-71CF094BEE3D}"/>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indent="0">
              <a:buNone/>
            </a:pPr>
            <a:r>
              <a:rPr lang="en-US" sz="2000" b="1" dirty="0"/>
              <a:t>4. Shelter Map Module</a:t>
            </a:r>
            <a:endParaRPr lang="en-US" sz="2000" dirty="0"/>
          </a:p>
          <a:p>
            <a:pPr lvl="0"/>
            <a:r>
              <a:rPr lang="en-US" sz="2000" dirty="0"/>
              <a:t>Displays rescue shelters and foster locations with Leaflet.</a:t>
            </a:r>
          </a:p>
          <a:p>
            <a:pPr lvl="0"/>
            <a:r>
              <a:rPr lang="en-US" sz="2000" dirty="0"/>
              <a:t>Uses colour-coded markers: Available, Application Pending, Adopted.</a:t>
            </a:r>
          </a:p>
          <a:p>
            <a:pPr marL="0" indent="0">
              <a:buNone/>
            </a:pPr>
            <a:r>
              <a:rPr lang="en-US" sz="2000" b="1" dirty="0"/>
              <a:t>5. List a Pet Module</a:t>
            </a:r>
            <a:endParaRPr lang="en-US" sz="2000" dirty="0"/>
          </a:p>
          <a:p>
            <a:pPr lvl="0"/>
            <a:r>
              <a:rPr lang="en-US" sz="2000" dirty="0"/>
              <a:t>Let's shelters add a pet through a validated form.</a:t>
            </a:r>
          </a:p>
          <a:p>
            <a:pPr lvl="0"/>
            <a:r>
              <a:rPr lang="en-US" sz="2000" dirty="0"/>
              <a:t>Collects medical verification, personality traits, rescue story and photo.</a:t>
            </a:r>
          </a:p>
          <a:p>
            <a:pPr marL="0" indent="0">
              <a:buNone/>
            </a:pPr>
            <a:r>
              <a:rPr lang="en-US" sz="2000" b="1" dirty="0"/>
              <a:t>6. Why Adopt Module</a:t>
            </a:r>
            <a:endParaRPr lang="en-US" sz="2000" dirty="0"/>
          </a:p>
          <a:p>
            <a:pPr lvl="0"/>
            <a:r>
              <a:rPr lang="en-US" sz="2000" dirty="0"/>
              <a:t>Presents the </a:t>
            </a:r>
            <a:r>
              <a:rPr lang="en-US" sz="2000" dirty="0" err="1"/>
              <a:t>PawAdopt</a:t>
            </a:r>
            <a:r>
              <a:rPr lang="en-US" sz="2000" dirty="0"/>
              <a:t> Promise: Medical Vetted, 2-Week Trial Foster, Direct Foster Chat and Lifetime Support.</a:t>
            </a:r>
          </a:p>
        </p:txBody>
      </p:sp>
    </p:spTree>
    <p:extLst>
      <p:ext uri="{BB962C8B-B14F-4D97-AF65-F5344CB8AC3E}">
        <p14:creationId xmlns:p14="http://schemas.microsoft.com/office/powerpoint/2010/main" val="35636763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52002D1B-70B9-9351-C301-C2CAB6CA41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C00918-B607-13B4-D832-A28441373A5D}"/>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WEBSITE WORKFLOW</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19B33D9-0FE4-B145-326E-A03EC37AEE54}"/>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089C03CA-C445-82AB-F5EB-169EEF3041E0}"/>
              </a:ext>
            </a:extLst>
          </p:cNvPr>
          <p:cNvPicPr>
            <a:picLocks noChangeAspect="1"/>
          </p:cNvPicPr>
          <p:nvPr/>
        </p:nvPicPr>
        <p:blipFill>
          <a:blip r:embed="rId4"/>
          <a:stretch>
            <a:fillRect/>
          </a:stretch>
        </p:blipFill>
        <p:spPr>
          <a:xfrm>
            <a:off x="2516712" y="1752600"/>
            <a:ext cx="7158577" cy="4267200"/>
          </a:xfrm>
          <a:prstGeom prst="rect">
            <a:avLst/>
          </a:prstGeom>
        </p:spPr>
      </p:pic>
    </p:spTree>
    <p:extLst>
      <p:ext uri="{BB962C8B-B14F-4D97-AF65-F5344CB8AC3E}">
        <p14:creationId xmlns:p14="http://schemas.microsoft.com/office/powerpoint/2010/main" val="3962682590"/>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BDB98BBF-F191-B90F-91A2-03EC0559E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6B4A3D-863C-76B3-9396-7D355C972344}"/>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PROJECT STRUCTURE &amp; FILE ORGANIZATION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BE6E73-B606-D438-E20A-9477BF1769A8}"/>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924F0899-9BB6-8FD6-4DA0-4A974632D9E1}"/>
              </a:ext>
            </a:extLst>
          </p:cNvPr>
          <p:cNvPicPr>
            <a:picLocks noChangeAspect="1"/>
          </p:cNvPicPr>
          <p:nvPr/>
        </p:nvPicPr>
        <p:blipFill>
          <a:blip r:embed="rId4"/>
          <a:stretch>
            <a:fillRect/>
          </a:stretch>
        </p:blipFill>
        <p:spPr>
          <a:xfrm>
            <a:off x="4722813" y="1776412"/>
            <a:ext cx="2733675" cy="4219575"/>
          </a:xfrm>
          <a:prstGeom prst="rect">
            <a:avLst/>
          </a:prstGeom>
        </p:spPr>
      </p:pic>
    </p:spTree>
    <p:extLst>
      <p:ext uri="{BB962C8B-B14F-4D97-AF65-F5344CB8AC3E}">
        <p14:creationId xmlns:p14="http://schemas.microsoft.com/office/powerpoint/2010/main" val="4138669557"/>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E5CB938-5E8D-5850-3A54-D2C62F1868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E93C07-CA79-FF90-CC76-5A190133017D}"/>
              </a:ext>
            </a:extLst>
          </p:cNvPr>
          <p:cNvSpPr>
            <a:spLocks noGrp="1"/>
          </p:cNvSpPr>
          <p:nvPr>
            <p:ph type="title"/>
          </p:nvPr>
        </p:nvSpPr>
        <p:spPr/>
        <p:txBody>
          <a:bodyPr/>
          <a:lstStyle/>
          <a:p>
            <a:r>
              <a:rPr lang="en-US" sz="3200" b="1" dirty="0">
                <a:solidFill>
                  <a:schemeClr val="accent6">
                    <a:lumMod val="75000"/>
                  </a:schemeClr>
                </a:solidFill>
                <a:latin typeface="Times New Roman" panose="02020603050405020304" pitchFamily="18" charset="0"/>
                <a:cs typeface="Times New Roman" panose="02020603050405020304" pitchFamily="18" charset="0"/>
              </a:rPr>
              <a:t>IMPLEMENTATION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6CDD78E-402F-6B23-8E4E-45C3E1A6A60D}"/>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6" name="Content Placeholder 2">
            <a:extLst>
              <a:ext uri="{FF2B5EF4-FFF2-40B4-BE49-F238E27FC236}">
                <a16:creationId xmlns:a16="http://schemas.microsoft.com/office/drawing/2014/main" id="{E44EA70B-2D3D-8828-26E5-3F489501BC74}"/>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lvl="0" algn="just"/>
            <a:r>
              <a:rPr lang="en-US" sz="1400" dirty="0"/>
              <a:t>Home page: The hero section shows the tagline “Find Your Forever Companion” with </a:t>
            </a:r>
            <a:r>
              <a:rPr lang="en-US" sz="1400" i="1" dirty="0"/>
              <a:t>Browse</a:t>
            </a:r>
            <a:r>
              <a:rPr lang="en-US" sz="1400" dirty="0"/>
              <a:t> and </a:t>
            </a:r>
            <a:r>
              <a:rPr lang="en-US" sz="1400" i="1" dirty="0"/>
              <a:t>List a Pet</a:t>
            </a:r>
            <a:r>
              <a:rPr lang="en-US" sz="1400" dirty="0"/>
              <a:t> buttons, plus live stats: Ready for Adoption, Pending Inquiries, Happily Adopted and 100% Health Vetted.</a:t>
            </a:r>
          </a:p>
          <a:p>
            <a:pPr lvl="0" algn="just"/>
            <a:r>
              <a:rPr lang="en-US" sz="1400" dirty="0"/>
              <a:t>Search and filters:</a:t>
            </a:r>
          </a:p>
          <a:p>
            <a:pPr lvl="1" algn="just"/>
            <a:r>
              <a:rPr lang="en-US" sz="1400" dirty="0"/>
              <a:t>Keyword search by breed, personality or “good with kids”.</a:t>
            </a:r>
          </a:p>
          <a:p>
            <a:pPr lvl="1" algn="just"/>
            <a:r>
              <a:rPr lang="en-US" sz="1400" dirty="0"/>
              <a:t>Size dropdown and sort options such as </a:t>
            </a:r>
            <a:r>
              <a:rPr lang="en-US" sz="1400" i="1" dirty="0"/>
              <a:t>Recently Added</a:t>
            </a:r>
            <a:r>
              <a:rPr lang="en-US" sz="1400" dirty="0"/>
              <a:t>.</a:t>
            </a:r>
          </a:p>
          <a:p>
            <a:pPr lvl="1" algn="just"/>
            <a:r>
              <a:rPr lang="en-US" sz="1400" dirty="0"/>
              <a:t>Status tabs: All, Ready to Adopt, Pending and Adopted.</a:t>
            </a:r>
          </a:p>
          <a:p>
            <a:pPr lvl="1" algn="just"/>
            <a:r>
              <a:rPr lang="en-US" sz="1400" dirty="0"/>
              <a:t>Species filters: Dogs, Cats, Birds and Others.</a:t>
            </a:r>
          </a:p>
          <a:p>
            <a:pPr lvl="0" algn="just"/>
            <a:r>
              <a:rPr lang="en-US" sz="1400" dirty="0"/>
              <a:t>Pet cards: Each card shows the photo, status badge, adoption fee, species, age, gender, breed, health tags and personality traits.</a:t>
            </a:r>
          </a:p>
          <a:p>
            <a:pPr lvl="0" algn="just"/>
            <a:r>
              <a:rPr lang="en-US" sz="1400" dirty="0"/>
              <a:t>Shelter map: Leaflet displays colour-coded markers: purple for Available, orange for Application Pending and green for Adopted.</a:t>
            </a:r>
          </a:p>
          <a:p>
            <a:pPr lvl="0" algn="just"/>
            <a:r>
              <a:rPr lang="en-US" sz="1400" dirty="0"/>
              <a:t>List a Pet form:</a:t>
            </a:r>
          </a:p>
          <a:p>
            <a:pPr lvl="1" algn="just"/>
            <a:r>
              <a:rPr lang="en-US" sz="1400" dirty="0"/>
              <a:t>Fields for breed, gender, age, size, fee and shelter location.</a:t>
            </a:r>
          </a:p>
          <a:p>
            <a:pPr lvl="1" algn="just"/>
            <a:r>
              <a:rPr lang="en-US" sz="1400" dirty="0"/>
              <a:t>Health verification checkboxes and personality traits.</a:t>
            </a:r>
          </a:p>
          <a:p>
            <a:pPr lvl="1" algn="just"/>
            <a:r>
              <a:rPr lang="en-US" sz="1400" dirty="0"/>
              <a:t>A rescue story and a photo upload.</a:t>
            </a:r>
          </a:p>
          <a:p>
            <a:pPr lvl="0" algn="just"/>
            <a:r>
              <a:rPr lang="en-US" sz="1400" dirty="0"/>
              <a:t>Why Adopt section: It highlights four promises: 100% Medical Vetted, 2-Week Trial Foster, Direct Foster Chat and Lifetime Support.</a:t>
            </a:r>
          </a:p>
          <a:p>
            <a:pPr algn="just"/>
            <a:endParaRPr lang="en-IN" sz="1400" kern="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9121934"/>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03009753-C4D8-9F9F-5F3B-413B1F1F1F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C0CA3-23DD-EDD9-49C4-2C279BCB2375}"/>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TESTING AND RESULTS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ED7CCD7-6301-746C-76DD-6268EF867F44}"/>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7" name="Content Placeholder 2">
            <a:extLst>
              <a:ext uri="{FF2B5EF4-FFF2-40B4-BE49-F238E27FC236}">
                <a16:creationId xmlns:a16="http://schemas.microsoft.com/office/drawing/2014/main" id="{82F70759-1550-D78B-D50E-8D034F6B57DB}"/>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lvl="0"/>
            <a:r>
              <a:rPr lang="en-US" sz="2000" dirty="0"/>
              <a:t>Tested search by breed and keyword.</a:t>
            </a:r>
          </a:p>
          <a:p>
            <a:pPr lvl="0"/>
            <a:r>
              <a:rPr lang="en-US" sz="2000" dirty="0"/>
              <a:t>Verified size, status and species filters and sorting.</a:t>
            </a:r>
          </a:p>
          <a:p>
            <a:pPr lvl="0"/>
            <a:r>
              <a:rPr lang="en-US" sz="2000" dirty="0"/>
              <a:t>Checked that the status counts (All 7, Ready 5, Pending 1, Adopted 1) update correctly.</a:t>
            </a:r>
          </a:p>
          <a:p>
            <a:pPr lvl="0"/>
            <a:r>
              <a:rPr lang="en-US" sz="2000" dirty="0"/>
              <a:t>Tested switching between Cards and Shelter Map views.</a:t>
            </a:r>
          </a:p>
          <a:p>
            <a:pPr lvl="0"/>
            <a:r>
              <a:rPr lang="en-US" sz="2000" dirty="0"/>
              <a:t>Verified the map markers and colour coding.</a:t>
            </a:r>
          </a:p>
          <a:p>
            <a:pPr lvl="0"/>
            <a:r>
              <a:rPr lang="en-US" sz="2000" dirty="0"/>
              <a:t>Tested the </a:t>
            </a:r>
            <a:r>
              <a:rPr lang="en-US" sz="2000" i="1" dirty="0"/>
              <a:t>List a Pet</a:t>
            </a:r>
            <a:r>
              <a:rPr lang="en-US" sz="2000" dirty="0"/>
              <a:t> form validation and photo upload.</a:t>
            </a:r>
          </a:p>
          <a:p>
            <a:pPr lvl="0"/>
            <a:r>
              <a:rPr lang="en-US" sz="2000" dirty="0"/>
              <a:t>Checked responsiveness on desktop and mobile screen sizes.</a:t>
            </a:r>
          </a:p>
        </p:txBody>
      </p:sp>
    </p:spTree>
    <p:extLst>
      <p:ext uri="{BB962C8B-B14F-4D97-AF65-F5344CB8AC3E}">
        <p14:creationId xmlns:p14="http://schemas.microsoft.com/office/powerpoint/2010/main" val="2051030746"/>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7B5333AC-5F44-9B50-FDA4-C09FCA8A2E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652309-B52E-FEF2-093B-036CA4EAC986}"/>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PROTOTYPE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F5451F3-FF0C-406F-BD3A-2EE4EEA2CE40}"/>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78B993-8BC3-EB8A-28AF-90704A0C9FE7}"/>
              </a:ext>
            </a:extLst>
          </p:cNvPr>
          <p:cNvPicPr>
            <a:picLocks noChangeAspect="1"/>
          </p:cNvPicPr>
          <p:nvPr/>
        </p:nvPicPr>
        <p:blipFill>
          <a:blip r:embed="rId4"/>
          <a:stretch>
            <a:fillRect/>
          </a:stretch>
        </p:blipFill>
        <p:spPr>
          <a:xfrm>
            <a:off x="1930661" y="1752600"/>
            <a:ext cx="8317980" cy="4275557"/>
          </a:xfrm>
          <a:prstGeom prst="rect">
            <a:avLst/>
          </a:prstGeom>
        </p:spPr>
      </p:pic>
    </p:spTree>
    <p:extLst>
      <p:ext uri="{BB962C8B-B14F-4D97-AF65-F5344CB8AC3E}">
        <p14:creationId xmlns:p14="http://schemas.microsoft.com/office/powerpoint/2010/main" val="3248289661"/>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9BF46367-AFFE-F8CD-83CB-98A603173A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0D656F-9639-D00C-579F-C011E6959FB9}"/>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PROTOTYPE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C635AA1-9742-8DFC-37E9-1D45F67F816F}"/>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5AFDC322-BEA2-12EC-BC83-AB9580CB4E5C}"/>
              </a:ext>
            </a:extLst>
          </p:cNvPr>
          <p:cNvPicPr>
            <a:picLocks noChangeAspect="1"/>
          </p:cNvPicPr>
          <p:nvPr/>
        </p:nvPicPr>
        <p:blipFill>
          <a:blip r:embed="rId4"/>
          <a:stretch>
            <a:fillRect/>
          </a:stretch>
        </p:blipFill>
        <p:spPr>
          <a:xfrm>
            <a:off x="2009274" y="1785413"/>
            <a:ext cx="8173453" cy="4234387"/>
          </a:xfrm>
          <a:prstGeom prst="rect">
            <a:avLst/>
          </a:prstGeom>
        </p:spPr>
      </p:pic>
    </p:spTree>
    <p:extLst>
      <p:ext uri="{BB962C8B-B14F-4D97-AF65-F5344CB8AC3E}">
        <p14:creationId xmlns:p14="http://schemas.microsoft.com/office/powerpoint/2010/main" val="2341410656"/>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EEB29D6B-4411-6484-0D27-2ED66F066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659C6C-413B-AE78-B6E2-B24C053E07FB}"/>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PROTOTYPE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08080F-947E-0205-2F3C-E96041FA5AF1}"/>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C89B283-0650-3C77-E594-56BC1F317324}"/>
              </a:ext>
            </a:extLst>
          </p:cNvPr>
          <p:cNvPicPr>
            <a:picLocks noChangeAspect="1"/>
          </p:cNvPicPr>
          <p:nvPr/>
        </p:nvPicPr>
        <p:blipFill>
          <a:blip r:embed="rId4"/>
          <a:stretch>
            <a:fillRect/>
          </a:stretch>
        </p:blipFill>
        <p:spPr>
          <a:xfrm>
            <a:off x="1868905" y="1752600"/>
            <a:ext cx="8454189" cy="4359401"/>
          </a:xfrm>
          <a:prstGeom prst="rect">
            <a:avLst/>
          </a:prstGeom>
        </p:spPr>
      </p:pic>
    </p:spTree>
    <p:extLst>
      <p:ext uri="{BB962C8B-B14F-4D97-AF65-F5344CB8AC3E}">
        <p14:creationId xmlns:p14="http://schemas.microsoft.com/office/powerpoint/2010/main" val="2381076554"/>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EACBA984-4BB0-C145-3CBA-0B014382FB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CBCBB7-C2DE-B37F-1E10-9ADD15A9FA2E}"/>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PROTOTYPE</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C69C6E-25E0-7CBE-C326-459FC573EA9A}"/>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A79A11B6-D053-02E9-7604-18B3891DC025}"/>
              </a:ext>
            </a:extLst>
          </p:cNvPr>
          <p:cNvPicPr>
            <a:picLocks noChangeAspect="1"/>
          </p:cNvPicPr>
          <p:nvPr/>
        </p:nvPicPr>
        <p:blipFill>
          <a:blip r:embed="rId4"/>
          <a:stretch>
            <a:fillRect/>
          </a:stretch>
        </p:blipFill>
        <p:spPr>
          <a:xfrm>
            <a:off x="1933603" y="1752600"/>
            <a:ext cx="8324793" cy="4302552"/>
          </a:xfrm>
          <a:prstGeom prst="rect">
            <a:avLst/>
          </a:prstGeom>
        </p:spPr>
      </p:pic>
    </p:spTree>
    <p:extLst>
      <p:ext uri="{BB962C8B-B14F-4D97-AF65-F5344CB8AC3E}">
        <p14:creationId xmlns:p14="http://schemas.microsoft.com/office/powerpoint/2010/main" val="1184122006"/>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7EEFFC76-D891-5D53-A8A6-8C408A9DD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38CD28-CE6D-7C6B-A712-61823404312C}"/>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CONCLUSION</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D22121D-67BE-E2CE-0D7A-AC17B8F87769}"/>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9" name="Content Placeholder 2">
            <a:extLst>
              <a:ext uri="{FF2B5EF4-FFF2-40B4-BE49-F238E27FC236}">
                <a16:creationId xmlns:a16="http://schemas.microsoft.com/office/drawing/2014/main" id="{FDD267F9-3A24-0F22-2D15-08526DF369B9}"/>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marL="0" lvl="0" indent="0" algn="just">
              <a:buNone/>
            </a:pPr>
            <a:r>
              <a:rPr lang="en-US" sz="2000" dirty="0" err="1"/>
              <a:t>PawAdopt</a:t>
            </a:r>
            <a:r>
              <a:rPr lang="en-US" sz="2000" dirty="0"/>
              <a:t> is a web-based pet adoption platform designed to simplify finding and listing rescue animals. It provides pet browsing, search and filtering, verified health information, interactive map locations and an online listing form. The system uses HTML, CSS and JavaScript with Leaflet.js for mapping. It helps shelters reach adopters, makes adoption information transparent and encourages responsible adoption.</a:t>
            </a:r>
          </a:p>
        </p:txBody>
      </p:sp>
    </p:spTree>
    <p:extLst>
      <p:ext uri="{BB962C8B-B14F-4D97-AF65-F5344CB8AC3E}">
        <p14:creationId xmlns:p14="http://schemas.microsoft.com/office/powerpoint/2010/main" val="194981158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226047DB-5445-5150-6A03-C2166A47D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66142E-EEF8-B2C7-5B44-8A66ACD7C3EE}"/>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FUTURE ENHANCEMENTS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8A53FBD-9409-D6FC-961E-5FDEA5ADD858}"/>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0D2C14A1-5919-1926-9F08-49FE0FACAD9C}"/>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pPr lvl="0"/>
            <a:r>
              <a:rPr lang="en-US" sz="2000" dirty="0"/>
              <a:t>Add user login for adopters and shelters.</a:t>
            </a:r>
          </a:p>
          <a:p>
            <a:pPr lvl="0"/>
            <a:r>
              <a:rPr lang="en-US" sz="2000" dirty="0"/>
              <a:t>Add a backend and database (Node.js or PHP with MySQL/MongoDB) for permanent storage.</a:t>
            </a:r>
          </a:p>
          <a:p>
            <a:pPr lvl="0"/>
            <a:r>
              <a:rPr lang="en-US" sz="2000" dirty="0"/>
              <a:t>Add online adoption applications with admin approval.</a:t>
            </a:r>
          </a:p>
          <a:p>
            <a:pPr lvl="0"/>
            <a:r>
              <a:rPr lang="en-US" sz="2000" dirty="0"/>
              <a:t>Add real-time chat between adopters and foster coordinators.</a:t>
            </a:r>
          </a:p>
          <a:p>
            <a:pPr lvl="0"/>
            <a:r>
              <a:rPr lang="en-US" sz="2000" dirty="0"/>
              <a:t>Send email or SMS notifications on application status changes.</a:t>
            </a:r>
          </a:p>
          <a:p>
            <a:pPr lvl="0"/>
            <a:r>
              <a:rPr lang="en-US" sz="2000" dirty="0"/>
              <a:t>Add a “pets near me” feature using the Haversine formula and GPS.</a:t>
            </a:r>
          </a:p>
          <a:p>
            <a:pPr lvl="0"/>
            <a:r>
              <a:rPr lang="en-US" sz="2000" dirty="0"/>
              <a:t>Develop a mobile application.</a:t>
            </a:r>
          </a:p>
        </p:txBody>
      </p:sp>
    </p:spTree>
    <p:extLst>
      <p:ext uri="{BB962C8B-B14F-4D97-AF65-F5344CB8AC3E}">
        <p14:creationId xmlns:p14="http://schemas.microsoft.com/office/powerpoint/2010/main" val="3742716821"/>
      </p:ext>
    </p:extLst>
  </p:cSld>
  <p:clrMapOvr>
    <a:overrideClrMapping bg1="lt1" tx1="dk1" bg2="lt2" tx2="dk2" accent1="accent1" accent2="accent2" accent3="accent3" accent4="accent4" accent5="accent5" accent6="accent6" hlink="hlink" folHlink="folHlink"/>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tile tx="0" ty="0" sx="100000" sy="100000" flip="none" algn="tl"/>
        </a:blipFill>
        <a:effectLst/>
      </p:bgPr>
    </p:bg>
    <p:spTree>
      <p:nvGrpSpPr>
        <p:cNvPr id="1" name="">
          <a:extLst>
            <a:ext uri="{FF2B5EF4-FFF2-40B4-BE49-F238E27FC236}">
              <a16:creationId xmlns:a16="http://schemas.microsoft.com/office/drawing/2014/main" id="{E5088911-572E-2865-AA24-77DEAF2E09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0B6578-77A1-9E9F-3F6C-0539115804E3}"/>
              </a:ext>
            </a:extLst>
          </p:cNvPr>
          <p:cNvSpPr>
            <a:spLocks noGrp="1"/>
          </p:cNvSpPr>
          <p:nvPr>
            <p:ph type="title"/>
          </p:nvPr>
        </p:nvSpPr>
        <p:spPr/>
        <p:txBody>
          <a:bodyPr/>
          <a:lstStyle/>
          <a:p>
            <a:r>
              <a:rPr lang="en-IN" altLang="en-US" sz="3200" b="1" dirty="0">
                <a:solidFill>
                  <a:schemeClr val="accent6">
                    <a:lumMod val="75000"/>
                  </a:schemeClr>
                </a:solidFill>
                <a:latin typeface="Times New Roman" panose="02020603050405020304" pitchFamily="18" charset="0"/>
                <a:cs typeface="Times New Roman" panose="02020603050405020304" pitchFamily="18" charset="0"/>
              </a:rPr>
              <a:t>REFERENCES</a:t>
            </a:r>
            <a:endParaRPr lang="en-IN" sz="28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9FDD347-89AE-73EE-67C6-787CE624178D}"/>
              </a:ext>
            </a:extLst>
          </p:cNvPr>
          <p:cNvSpPr>
            <a:spLocks noGrp="1"/>
          </p:cNvSpPr>
          <p:nvPr>
            <p:ph idx="1"/>
          </p:nvPr>
        </p:nvSpPr>
        <p:spPr/>
        <p:txBody>
          <a:bodyPr/>
          <a:lstStyle/>
          <a:p>
            <a:pPr marL="0" marR="0" lvl="0" indent="0" algn="l" defTabSz="914400" rtl="0" eaLnBrk="0" fontAlgn="base" latinLnBrk="0" hangingPunct="0">
              <a:lnSpc>
                <a:spcPct val="100000"/>
              </a:lnSpc>
              <a:spcBef>
                <a:spcPct val="20000"/>
              </a:spcBef>
              <a:spcAft>
                <a:spcPct val="0"/>
              </a:spcAft>
              <a:buClr>
                <a:srgbClr val="CC0000"/>
              </a:buClr>
              <a:buSzTx/>
              <a:buNone/>
              <a:tabLst/>
              <a:defRPr/>
            </a:pPr>
            <a:br>
              <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rPr>
            </a:br>
            <a:endParaRPr kumimoji="0" lang="en-IN" altLang="en-US" sz="2400" b="0" i="0" u="none" strike="noStrike" kern="0" cap="none" spc="0" normalizeH="0" baseline="0" noProof="0" dirty="0">
              <a:ln>
                <a:noFill/>
              </a:ln>
              <a:solidFill>
                <a:srgbClr val="000000"/>
              </a:solidFill>
              <a:effectLst/>
              <a:uLnTx/>
              <a:uFillTx/>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5" name="Content Placeholder 2">
            <a:extLst>
              <a:ext uri="{FF2B5EF4-FFF2-40B4-BE49-F238E27FC236}">
                <a16:creationId xmlns:a16="http://schemas.microsoft.com/office/drawing/2014/main" id="{73B45112-E2BF-74C3-7B70-C6F5FF1692F8}"/>
              </a:ext>
            </a:extLst>
          </p:cNvPr>
          <p:cNvSpPr txBox="1">
            <a:spLocks/>
          </p:cNvSpPr>
          <p:nvPr/>
        </p:nvSpPr>
        <p:spPr bwMode="auto">
          <a:xfrm>
            <a:off x="908051" y="1905000"/>
            <a:ext cx="10668000"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69900" indent="-469900" algn="l" rtl="0" eaLnBrk="0" fontAlgn="base" hangingPunct="0">
              <a:spcBef>
                <a:spcPct val="20000"/>
              </a:spcBef>
              <a:spcAft>
                <a:spcPct val="0"/>
              </a:spcAft>
              <a:buClr>
                <a:schemeClr val="accent2"/>
              </a:buClr>
              <a:buFont typeface="Wingdings" panose="05000000000000000000" pitchFamily="2" charset="2"/>
              <a:buChar char="o"/>
              <a:defRPr sz="3000">
                <a:solidFill>
                  <a:schemeClr val="tx1"/>
                </a:solidFill>
                <a:latin typeface="+mn-lt"/>
                <a:ea typeface="+mn-ea"/>
                <a:cs typeface="+mn-cs"/>
              </a:defRPr>
            </a:lvl1pPr>
            <a:lvl2pPr marL="908050" indent="-436563" algn="l" rtl="0" eaLnBrk="0" fontAlgn="base" hangingPunct="0">
              <a:spcBef>
                <a:spcPct val="20000"/>
              </a:spcBef>
              <a:spcAft>
                <a:spcPct val="0"/>
              </a:spcAft>
              <a:buClr>
                <a:schemeClr val="accent2"/>
              </a:buClr>
              <a:buFont typeface="Wingdings" panose="05000000000000000000" pitchFamily="2" charset="2"/>
              <a:buChar char="n"/>
              <a:defRPr sz="2600">
                <a:solidFill>
                  <a:schemeClr val="tx1"/>
                </a:solidFill>
                <a:latin typeface="+mn-lt"/>
              </a:defRPr>
            </a:lvl2pPr>
            <a:lvl3pPr marL="1304925" indent="-395288" algn="l" rtl="0" eaLnBrk="0" fontAlgn="base" hangingPunct="0">
              <a:spcBef>
                <a:spcPct val="20000"/>
              </a:spcBef>
              <a:spcAft>
                <a:spcPct val="0"/>
              </a:spcAft>
              <a:buClr>
                <a:schemeClr val="accent2"/>
              </a:buClr>
              <a:buFont typeface="Wingdings" panose="05000000000000000000" pitchFamily="2" charset="2"/>
              <a:buChar char="o"/>
              <a:defRPr sz="2300">
                <a:solidFill>
                  <a:schemeClr val="tx1"/>
                </a:solidFill>
                <a:latin typeface="+mn-lt"/>
              </a:defRPr>
            </a:lvl3pPr>
            <a:lvl4pPr marL="1693863" indent="-387350" algn="l" rtl="0" eaLnBrk="0" fontAlgn="base" hangingPunct="0">
              <a:spcBef>
                <a:spcPct val="20000"/>
              </a:spcBef>
              <a:spcAft>
                <a:spcPct val="0"/>
              </a:spcAft>
              <a:buClr>
                <a:schemeClr val="accent2"/>
              </a:buClr>
              <a:buFont typeface="Wingdings" panose="05000000000000000000" pitchFamily="2" charset="2"/>
              <a:buChar char="n"/>
              <a:defRPr sz="2000">
                <a:solidFill>
                  <a:schemeClr val="tx1"/>
                </a:solidFill>
                <a:latin typeface="+mn-lt"/>
              </a:defRPr>
            </a:lvl4pPr>
            <a:lvl5pPr marL="2093913" indent="-398463" algn="l" rtl="0" eaLnBrk="0" fontAlgn="base" hangingPunct="0">
              <a:spcBef>
                <a:spcPct val="25000"/>
              </a:spcBef>
              <a:spcAft>
                <a:spcPct val="0"/>
              </a:spcAft>
              <a:buClr>
                <a:schemeClr val="accent2"/>
              </a:buClr>
              <a:buFont typeface="Wingdings" panose="05000000000000000000" pitchFamily="2" charset="2"/>
              <a:buChar char="§"/>
              <a:defRPr sz="2000">
                <a:solidFill>
                  <a:schemeClr val="tx1"/>
                </a:solidFill>
                <a:latin typeface="+mn-lt"/>
              </a:defRPr>
            </a:lvl5pPr>
            <a:lvl6pPr marL="25511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fontAlgn="base">
              <a:spcBef>
                <a:spcPct val="25000"/>
              </a:spcBef>
              <a:spcAft>
                <a:spcPct val="0"/>
              </a:spcAft>
              <a:buClr>
                <a:schemeClr val="accent2"/>
              </a:buClr>
              <a:buFont typeface="Wingdings" pitchFamily="2" charset="2"/>
              <a:buChar char="§"/>
              <a:defRPr sz="2000">
                <a:solidFill>
                  <a:schemeClr val="tx1"/>
                </a:solidFill>
                <a:latin typeface="+mn-lt"/>
              </a:defRPr>
            </a:lvl9pPr>
          </a:lstStyle>
          <a:p>
            <a:r>
              <a:rPr lang="en-US" sz="2000" dirty="0"/>
              <a:t>[1] Jagtap, Y. D. (2025). </a:t>
            </a:r>
            <a:r>
              <a:rPr lang="en-US" sz="2000" i="1" dirty="0"/>
              <a:t>Shelter Soul: Bridging shelters and adopters through technology</a:t>
            </a:r>
            <a:r>
              <a:rPr lang="en-US" sz="2000" dirty="0"/>
              <a:t>. arXiv:2506.12739.</a:t>
            </a:r>
          </a:p>
          <a:p>
            <a:r>
              <a:rPr lang="en-US" sz="2000" dirty="0"/>
              <a:t>[2] </a:t>
            </a:r>
            <a:r>
              <a:rPr lang="en-US" sz="2000" dirty="0" err="1"/>
              <a:t>Nauli</a:t>
            </a:r>
            <a:r>
              <a:rPr lang="en-US" sz="2000" dirty="0"/>
              <a:t>, S. B., </a:t>
            </a:r>
            <a:r>
              <a:rPr lang="en-US" sz="2000" dirty="0" err="1"/>
              <a:t>Kusumawati</a:t>
            </a:r>
            <a:r>
              <a:rPr lang="en-US" sz="2000" dirty="0"/>
              <a:t>, K., </a:t>
            </a:r>
            <a:r>
              <a:rPr lang="en-US" sz="2000" dirty="0" err="1"/>
              <a:t>Sitorus</a:t>
            </a:r>
            <a:r>
              <a:rPr lang="en-US" sz="2000" dirty="0"/>
              <a:t>, H., </a:t>
            </a:r>
            <a:r>
              <a:rPr lang="en-US" sz="2000" dirty="0" err="1"/>
              <a:t>Chafid</a:t>
            </a:r>
            <a:r>
              <a:rPr lang="en-US" sz="2000" dirty="0"/>
              <a:t>, N., Panjaitan, B., &amp; </a:t>
            </a:r>
            <a:r>
              <a:rPr lang="en-US" sz="2000" dirty="0" err="1"/>
              <a:t>Rahmatina</a:t>
            </a:r>
            <a:r>
              <a:rPr lang="en-US" sz="2000" dirty="0"/>
              <a:t>, I. </a:t>
            </a:r>
            <a:r>
              <a:rPr lang="en-US" sz="2000" i="1" dirty="0"/>
              <a:t>Web-based application design for adoption of abandoned pets</a:t>
            </a:r>
            <a:r>
              <a:rPr lang="en-US" sz="2000" dirty="0"/>
              <a:t>. </a:t>
            </a:r>
            <a:r>
              <a:rPr lang="en-US" sz="2000" i="1" dirty="0"/>
              <a:t>Format</a:t>
            </a:r>
            <a:r>
              <a:rPr lang="en-US" sz="2000" dirty="0"/>
              <a:t> journal, Universitas </a:t>
            </a:r>
            <a:r>
              <a:rPr lang="en-US" sz="2000" dirty="0" err="1"/>
              <a:t>Mercu</a:t>
            </a:r>
            <a:r>
              <a:rPr lang="en-US" sz="2000" dirty="0"/>
              <a:t> Buana.</a:t>
            </a:r>
          </a:p>
          <a:p>
            <a:r>
              <a:rPr lang="en-US" sz="2000" dirty="0"/>
              <a:t>[3] </a:t>
            </a:r>
            <a:r>
              <a:rPr lang="en-US" sz="2000" i="1" dirty="0"/>
              <a:t>Development of a proximity-based pet adoption website application</a:t>
            </a:r>
            <a:r>
              <a:rPr lang="en-US" sz="2000" dirty="0"/>
              <a:t> (2025). </a:t>
            </a:r>
            <a:r>
              <a:rPr lang="en-US" sz="2000" i="1" dirty="0"/>
              <a:t>IJSECS</a:t>
            </a:r>
            <a:r>
              <a:rPr lang="en-US" sz="2000" dirty="0"/>
              <a:t>.</a:t>
            </a:r>
          </a:p>
          <a:p>
            <a:r>
              <a:rPr lang="en-US" sz="2000" dirty="0"/>
              <a:t>[4] Leaflet. (n.d.). Leaflet documentation. </a:t>
            </a:r>
            <a:r>
              <a:rPr lang="en-US" sz="2000" dirty="0">
                <a:hlinkClick r:id="rId4"/>
              </a:rPr>
              <a:t>https://leafletjs.com/</a:t>
            </a:r>
            <a:endParaRPr lang="en-US" sz="2000" dirty="0"/>
          </a:p>
          <a:p>
            <a:r>
              <a:rPr lang="en-US" sz="2000" dirty="0"/>
              <a:t>[5] OpenStreetMap contributors. </a:t>
            </a:r>
            <a:r>
              <a:rPr lang="en-US" sz="2000" dirty="0">
                <a:hlinkClick r:id="rId5"/>
              </a:rPr>
              <a:t>https://www.openstreetmap.org/</a:t>
            </a:r>
            <a:endParaRPr lang="en-US" sz="2000" dirty="0"/>
          </a:p>
          <a:p>
            <a:r>
              <a:rPr lang="en-US" sz="2000" dirty="0"/>
              <a:t>[6] MDN Web Docs. HTML, CSS and JavaScript. </a:t>
            </a:r>
            <a:r>
              <a:rPr lang="en-US" sz="2000" dirty="0">
                <a:hlinkClick r:id="rId6"/>
              </a:rPr>
              <a:t>https://developer.mozilla.org/</a:t>
            </a:r>
            <a:endParaRPr lang="en-US" sz="2000" dirty="0"/>
          </a:p>
        </p:txBody>
      </p:sp>
    </p:spTree>
    <p:extLst>
      <p:ext uri="{BB962C8B-B14F-4D97-AF65-F5344CB8AC3E}">
        <p14:creationId xmlns:p14="http://schemas.microsoft.com/office/powerpoint/2010/main" val="2272563711"/>
      </p:ext>
    </p:extLst>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Profile">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0.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1.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2.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3.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4.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5.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6.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7.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8.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ppt/theme/themeOverride19.xml><?xml version="1.0" encoding="utf-8"?>
<a:themeOverride xmlns:a="http://schemas.openxmlformats.org/drawingml/2006/main">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themeOverride>
</file>

<file path=docProps/app.xml><?xml version="1.0" encoding="utf-8"?>
<Properties xmlns="http://schemas.openxmlformats.org/officeDocument/2006/extended-properties" xmlns:vt="http://schemas.openxmlformats.org/officeDocument/2006/docPropsVTypes">
  <Template/>
  <TotalTime>841</TotalTime>
  <Words>1230</Words>
  <Application>Microsoft Office PowerPoint</Application>
  <PresentationFormat>Widescreen</PresentationFormat>
  <Paragraphs>139</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Calibri</vt:lpstr>
      <vt:lpstr>Times New Roman</vt:lpstr>
      <vt:lpstr>Verdana</vt:lpstr>
      <vt:lpstr>Wingdings</vt:lpstr>
      <vt:lpstr>Profile</vt:lpstr>
      <vt:lpstr>PowerPoint Presentation</vt:lpstr>
      <vt:lpstr>ABSTRACT</vt:lpstr>
      <vt:lpstr>PROBLEM STATEMENT</vt:lpstr>
      <vt:lpstr>PROJECT OBJECTIVES</vt:lpstr>
      <vt:lpstr>TOOLS AND TECHNOLOGIES</vt:lpstr>
      <vt:lpstr>SYSTEM ARCHITECTURE</vt:lpstr>
      <vt:lpstr>WEBSITE MODULES</vt:lpstr>
      <vt:lpstr>WEBSITE MODULES</vt:lpstr>
      <vt:lpstr>WEBSITE WORKFLOW</vt:lpstr>
      <vt:lpstr>PROJECT STRUCTURE &amp; FILE ORGANIZATION</vt:lpstr>
      <vt:lpstr>IMPLEMENTATION</vt:lpstr>
      <vt:lpstr>TESTING AND RESULTS</vt:lpstr>
      <vt:lpstr>PROTOTYPE</vt:lpstr>
      <vt:lpstr>PROTOTYPE</vt:lpstr>
      <vt:lpstr>PROTOTYPE</vt:lpstr>
      <vt:lpstr>PROTOTYPE</vt:lpstr>
      <vt:lpstr>CONCLUSION</vt:lpstr>
      <vt:lpstr>FUTURE ENHANCEMENTS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Rupmala R</dc:creator>
  <cp:lastModifiedBy>Nandhini Velmurugan</cp:lastModifiedBy>
  <cp:revision>48</cp:revision>
  <dcterms:created xsi:type="dcterms:W3CDTF">2023-08-03T04:32:32Z</dcterms:created>
  <dcterms:modified xsi:type="dcterms:W3CDTF">2026-10-21T08:14:08Z</dcterms:modified>
</cp:coreProperties>
</file>